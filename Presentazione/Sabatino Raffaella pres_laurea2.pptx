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59" r:id="rId5"/>
    <p:sldId id="262" r:id="rId6"/>
    <p:sldId id="270" r:id="rId7"/>
    <p:sldId id="264" r:id="rId8"/>
    <p:sldId id="265" r:id="rId9"/>
    <p:sldId id="266" r:id="rId10"/>
    <p:sldId id="267" r:id="rId11"/>
    <p:sldId id="268" r:id="rId12"/>
    <p:sldId id="269" r:id="rId13"/>
    <p:sldId id="258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vetica Neue" panose="020B0604020202020204" charset="0"/>
      <p:regular r:id="rId20"/>
      <p:bold r:id="rId21"/>
      <p:italic r:id="rId22"/>
      <p:boldItalic r:id="rId23"/>
    </p:embeddedFont>
    <p:embeddedFont>
      <p:font typeface="Helvetica Neue Light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h4Eq39x/DqQ30S+8RwMfBs59m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C3F7"/>
    <a:srgbClr val="43A047"/>
    <a:srgbClr val="336600"/>
    <a:srgbClr val="F0F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0"/>
  </p:normalViewPr>
  <p:slideViewPr>
    <p:cSldViewPr snapToGrid="0">
      <p:cViewPr varScale="1">
        <p:scale>
          <a:sx n="80" d="100"/>
          <a:sy n="80" d="100"/>
        </p:scale>
        <p:origin x="29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AutoAttack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Q=10</c:v>
                </c:pt>
                <c:pt idx="1">
                  <c:v>Q=20</c:v>
                </c:pt>
                <c:pt idx="2">
                  <c:v>Q=25</c:v>
                </c:pt>
                <c:pt idx="3">
                  <c:v>Q=30</c:v>
                </c:pt>
                <c:pt idx="4">
                  <c:v>Q=40</c:v>
                </c:pt>
                <c:pt idx="5">
                  <c:v>Q=60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46.6</c:v>
                </c:pt>
                <c:pt idx="1">
                  <c:v>57.7</c:v>
                </c:pt>
                <c:pt idx="2">
                  <c:v>57.4</c:v>
                </c:pt>
                <c:pt idx="3">
                  <c:v>55.4</c:v>
                </c:pt>
                <c:pt idx="4">
                  <c:v>50.6</c:v>
                </c:pt>
                <c:pt idx="5">
                  <c:v>38.299999999999997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9B-47A9-9B0C-CAD384BC14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PGD</c:v>
                </c:pt>
              </c:strCache>
            </c:strRef>
          </c:tx>
          <c:spPr>
            <a:ln w="38100" cap="flat">
              <a:solidFill>
                <a:srgbClr val="4FC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C3F7"/>
              </a:solidFill>
              <a:ln w="9525" cap="flat">
                <a:solidFill>
                  <a:srgbClr val="4FC3F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Q=10</c:v>
                </c:pt>
                <c:pt idx="1">
                  <c:v>Q=20</c:v>
                </c:pt>
                <c:pt idx="2">
                  <c:v>Q=25</c:v>
                </c:pt>
                <c:pt idx="3">
                  <c:v>Q=30</c:v>
                </c:pt>
                <c:pt idx="4">
                  <c:v>Q=40</c:v>
                </c:pt>
                <c:pt idx="5">
                  <c:v>Q=60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47.5</c:v>
                </c:pt>
                <c:pt idx="1">
                  <c:v>56.9</c:v>
                </c:pt>
                <c:pt idx="2">
                  <c:v>56.2</c:v>
                </c:pt>
                <c:pt idx="3">
                  <c:v>54</c:v>
                </c:pt>
                <c:pt idx="4">
                  <c:v>49.7</c:v>
                </c:pt>
                <c:pt idx="5">
                  <c:v>37.9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9B-47A9-9B0C-CAD384BC14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BIM</c:v>
                </c:pt>
              </c:strCache>
            </c:strRef>
          </c:tx>
          <c:spPr>
            <a:ln w="38100" cap="flat">
              <a:solidFill>
                <a:srgbClr val="43A04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3A047"/>
              </a:solidFill>
              <a:ln w="9525" cap="flat">
                <a:solidFill>
                  <a:srgbClr val="43A04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Q=10</c:v>
                </c:pt>
                <c:pt idx="1">
                  <c:v>Q=20</c:v>
                </c:pt>
                <c:pt idx="2">
                  <c:v>Q=25</c:v>
                </c:pt>
                <c:pt idx="3">
                  <c:v>Q=30</c:v>
                </c:pt>
                <c:pt idx="4">
                  <c:v>Q=40</c:v>
                </c:pt>
                <c:pt idx="5">
                  <c:v>Q=60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49.1</c:v>
                </c:pt>
                <c:pt idx="1">
                  <c:v>64</c:v>
                </c:pt>
                <c:pt idx="2">
                  <c:v>48.9</c:v>
                </c:pt>
                <c:pt idx="3">
                  <c:v>44.9</c:v>
                </c:pt>
                <c:pt idx="4">
                  <c:v>37.1</c:v>
                </c:pt>
                <c:pt idx="5">
                  <c:v>22.1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B9B-47A9-9B0C-CAD384BC14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it-I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1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it-IT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it-IT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393193638666524E-2"/>
          <c:y val="2.2178107057517254E-2"/>
          <c:w val="0.93260205965538379"/>
          <c:h val="0.8185882336409433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AutoAttack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Q=10</c:v>
                </c:pt>
                <c:pt idx="1">
                  <c:v>Q=12</c:v>
                </c:pt>
                <c:pt idx="2">
                  <c:v>Q=14</c:v>
                </c:pt>
                <c:pt idx="3">
                  <c:v>Q=16</c:v>
                </c:pt>
                <c:pt idx="4">
                  <c:v>Q=18</c:v>
                </c:pt>
                <c:pt idx="5">
                  <c:v>Q=20</c:v>
                </c:pt>
                <c:pt idx="6">
                  <c:v>Q=22</c:v>
                </c:pt>
                <c:pt idx="7">
                  <c:v>Q=25</c:v>
                </c:pt>
                <c:pt idx="8">
                  <c:v>Q=28</c:v>
                </c:pt>
                <c:pt idx="9">
                  <c:v>Q=30</c:v>
                </c:pt>
                <c:pt idx="10">
                  <c:v>Q=32</c:v>
                </c:pt>
                <c:pt idx="11">
                  <c:v>Q=35</c:v>
                </c:pt>
                <c:pt idx="12">
                  <c:v>Q=37</c:v>
                </c:pt>
                <c:pt idx="13">
                  <c:v>Q=40</c:v>
                </c:pt>
                <c:pt idx="14">
                  <c:v>Q=45</c:v>
                </c:pt>
                <c:pt idx="15">
                  <c:v>Q=50</c:v>
                </c:pt>
                <c:pt idx="16">
                  <c:v>Q=55</c:v>
                </c:pt>
                <c:pt idx="17">
                  <c:v>Q=60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16.8</c:v>
                </c:pt>
                <c:pt idx="1">
                  <c:v>21.8</c:v>
                </c:pt>
                <c:pt idx="2">
                  <c:v>26.2</c:v>
                </c:pt>
                <c:pt idx="3">
                  <c:v>29.5</c:v>
                </c:pt>
                <c:pt idx="4">
                  <c:v>32.6</c:v>
                </c:pt>
                <c:pt idx="5">
                  <c:v>35</c:v>
                </c:pt>
                <c:pt idx="6">
                  <c:v>37.4</c:v>
                </c:pt>
                <c:pt idx="7">
                  <c:v>39.299999999999997</c:v>
                </c:pt>
                <c:pt idx="8">
                  <c:v>40.799999999999997</c:v>
                </c:pt>
                <c:pt idx="9">
                  <c:v>40.799999999999997</c:v>
                </c:pt>
                <c:pt idx="10">
                  <c:v>41.1</c:v>
                </c:pt>
                <c:pt idx="11">
                  <c:v>41</c:v>
                </c:pt>
                <c:pt idx="12">
                  <c:v>40.9</c:v>
                </c:pt>
                <c:pt idx="13">
                  <c:v>40.700000000000003</c:v>
                </c:pt>
                <c:pt idx="14">
                  <c:v>39.200000000000003</c:v>
                </c:pt>
                <c:pt idx="15">
                  <c:v>38.1</c:v>
                </c:pt>
                <c:pt idx="16">
                  <c:v>37.200000000000003</c:v>
                </c:pt>
                <c:pt idx="17">
                  <c:v>34.9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32-4B09-97E7-5BD0B4177E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PGD</c:v>
                </c:pt>
              </c:strCache>
            </c:strRef>
          </c:tx>
          <c:spPr>
            <a:ln w="31750" cap="flat">
              <a:solidFill>
                <a:srgbClr val="4FC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C3F7"/>
              </a:solidFill>
              <a:ln w="9525" cap="flat">
                <a:solidFill>
                  <a:srgbClr val="4FC3F7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Q=10</c:v>
                </c:pt>
                <c:pt idx="1">
                  <c:v>Q=12</c:v>
                </c:pt>
                <c:pt idx="2">
                  <c:v>Q=14</c:v>
                </c:pt>
                <c:pt idx="3">
                  <c:v>Q=16</c:v>
                </c:pt>
                <c:pt idx="4">
                  <c:v>Q=18</c:v>
                </c:pt>
                <c:pt idx="5">
                  <c:v>Q=20</c:v>
                </c:pt>
                <c:pt idx="6">
                  <c:v>Q=22</c:v>
                </c:pt>
                <c:pt idx="7">
                  <c:v>Q=25</c:v>
                </c:pt>
                <c:pt idx="8">
                  <c:v>Q=28</c:v>
                </c:pt>
                <c:pt idx="9">
                  <c:v>Q=30</c:v>
                </c:pt>
                <c:pt idx="10">
                  <c:v>Q=32</c:v>
                </c:pt>
                <c:pt idx="11">
                  <c:v>Q=35</c:v>
                </c:pt>
                <c:pt idx="12">
                  <c:v>Q=37</c:v>
                </c:pt>
                <c:pt idx="13">
                  <c:v>Q=40</c:v>
                </c:pt>
                <c:pt idx="14">
                  <c:v>Q=45</c:v>
                </c:pt>
                <c:pt idx="15">
                  <c:v>Q=50</c:v>
                </c:pt>
                <c:pt idx="16">
                  <c:v>Q=55</c:v>
                </c:pt>
                <c:pt idx="17">
                  <c:v>Q=60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17.600000000000001</c:v>
                </c:pt>
                <c:pt idx="1">
                  <c:v>22.4</c:v>
                </c:pt>
                <c:pt idx="2">
                  <c:v>27.4</c:v>
                </c:pt>
                <c:pt idx="3">
                  <c:v>30.8</c:v>
                </c:pt>
                <c:pt idx="4">
                  <c:v>34.200000000000003</c:v>
                </c:pt>
                <c:pt idx="5">
                  <c:v>35.5</c:v>
                </c:pt>
                <c:pt idx="6">
                  <c:v>38.200000000000003</c:v>
                </c:pt>
                <c:pt idx="7">
                  <c:v>39.700000000000003</c:v>
                </c:pt>
                <c:pt idx="8">
                  <c:v>40.700000000000003</c:v>
                </c:pt>
                <c:pt idx="9">
                  <c:v>41.1</c:v>
                </c:pt>
                <c:pt idx="10">
                  <c:v>41.5</c:v>
                </c:pt>
                <c:pt idx="11">
                  <c:v>41.4</c:v>
                </c:pt>
                <c:pt idx="12">
                  <c:v>41.6</c:v>
                </c:pt>
                <c:pt idx="13">
                  <c:v>40.5</c:v>
                </c:pt>
                <c:pt idx="14">
                  <c:v>39.700000000000003</c:v>
                </c:pt>
                <c:pt idx="15">
                  <c:v>38.5</c:v>
                </c:pt>
                <c:pt idx="16">
                  <c:v>36.5</c:v>
                </c:pt>
                <c:pt idx="17">
                  <c:v>33.799999999999997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32-4B09-97E7-5BD0B4177E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BIM</c:v>
                </c:pt>
              </c:strCache>
            </c:strRef>
          </c:tx>
          <c:spPr>
            <a:ln w="31750" cap="flat">
              <a:solidFill>
                <a:srgbClr val="43A04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3A047"/>
              </a:solidFill>
              <a:ln w="9525" cap="flat">
                <a:solidFill>
                  <a:srgbClr val="43A047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Q=10</c:v>
                </c:pt>
                <c:pt idx="1">
                  <c:v>Q=12</c:v>
                </c:pt>
                <c:pt idx="2">
                  <c:v>Q=14</c:v>
                </c:pt>
                <c:pt idx="3">
                  <c:v>Q=16</c:v>
                </c:pt>
                <c:pt idx="4">
                  <c:v>Q=18</c:v>
                </c:pt>
                <c:pt idx="5">
                  <c:v>Q=20</c:v>
                </c:pt>
                <c:pt idx="6">
                  <c:v>Q=22</c:v>
                </c:pt>
                <c:pt idx="7">
                  <c:v>Q=25</c:v>
                </c:pt>
                <c:pt idx="8">
                  <c:v>Q=28</c:v>
                </c:pt>
                <c:pt idx="9">
                  <c:v>Q=30</c:v>
                </c:pt>
                <c:pt idx="10">
                  <c:v>Q=32</c:v>
                </c:pt>
                <c:pt idx="11">
                  <c:v>Q=35</c:v>
                </c:pt>
                <c:pt idx="12">
                  <c:v>Q=37</c:v>
                </c:pt>
                <c:pt idx="13">
                  <c:v>Q=40</c:v>
                </c:pt>
                <c:pt idx="14">
                  <c:v>Q=45</c:v>
                </c:pt>
                <c:pt idx="15">
                  <c:v>Q=50</c:v>
                </c:pt>
                <c:pt idx="16">
                  <c:v>Q=55</c:v>
                </c:pt>
                <c:pt idx="17">
                  <c:v>Q=60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17.7</c:v>
                </c:pt>
                <c:pt idx="1">
                  <c:v>22.4</c:v>
                </c:pt>
                <c:pt idx="2">
                  <c:v>27.3</c:v>
                </c:pt>
                <c:pt idx="3">
                  <c:v>30.7</c:v>
                </c:pt>
                <c:pt idx="4">
                  <c:v>33.6</c:v>
                </c:pt>
                <c:pt idx="5">
                  <c:v>35.200000000000003</c:v>
                </c:pt>
                <c:pt idx="6">
                  <c:v>36.9</c:v>
                </c:pt>
                <c:pt idx="7">
                  <c:v>38.1</c:v>
                </c:pt>
                <c:pt idx="8">
                  <c:v>38.700000000000003</c:v>
                </c:pt>
                <c:pt idx="9">
                  <c:v>39.1</c:v>
                </c:pt>
                <c:pt idx="10">
                  <c:v>38.299999999999997</c:v>
                </c:pt>
                <c:pt idx="11">
                  <c:v>37.799999999999997</c:v>
                </c:pt>
                <c:pt idx="12">
                  <c:v>37.5</c:v>
                </c:pt>
                <c:pt idx="13">
                  <c:v>36.299999999999997</c:v>
                </c:pt>
                <c:pt idx="14">
                  <c:v>33.4</c:v>
                </c:pt>
                <c:pt idx="15">
                  <c:v>30.5</c:v>
                </c:pt>
                <c:pt idx="16">
                  <c:v>27.3</c:v>
                </c:pt>
                <c:pt idx="17">
                  <c:v>23.9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532-4B09-97E7-5BD0B4177E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it-IT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42"/>
          <c:min val="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it-IT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it-IT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72050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4611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5615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8472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it-IT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0390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2700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2700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lang="it-IT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2438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f8a7f80e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3f8a7f80ed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3f8a7f80ed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2" name="Google Shape;22;p5"/>
          <p:cNvSpPr/>
          <p:nvPr/>
        </p:nvSpPr>
        <p:spPr>
          <a:xfrm>
            <a:off x="0" y="0"/>
            <a:ext cx="850842" cy="6858000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669234" y="363538"/>
            <a:ext cx="168966" cy="1325563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"/>
          <p:cNvSpPr/>
          <p:nvPr/>
        </p:nvSpPr>
        <p:spPr>
          <a:xfrm>
            <a:off x="-1" y="6773233"/>
            <a:ext cx="12192001" cy="136525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Intestazione sezione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1114425" y="0"/>
            <a:ext cx="9963150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39700" sx="102000" sy="102000" algn="ctr" rotWithShape="0">
              <a:srgbClr val="D8D8D8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7"/>
          <p:cNvSpPr/>
          <p:nvPr/>
        </p:nvSpPr>
        <p:spPr>
          <a:xfrm>
            <a:off x="1121664" y="0"/>
            <a:ext cx="9948672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7"/>
          <p:cNvSpPr/>
          <p:nvPr/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1598140" y="1647954"/>
            <a:ext cx="8995719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2298270" y="4844920"/>
            <a:ext cx="7595458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pic>
        <p:nvPicPr>
          <p:cNvPr id="41" name="Google Shape;41;p7" descr="Immagine che contiene Carattere, Elementi grafici, logo, simbolo&#10;&#10;Descrizione generat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35209" y="6037405"/>
            <a:ext cx="1900194" cy="6840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/>
          <p:nvPr/>
        </p:nvSpPr>
        <p:spPr>
          <a:xfrm>
            <a:off x="0" y="6727363"/>
            <a:ext cx="12192000" cy="174570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olo e contenuto">
  <p:cSld name="2_Titolo e contenut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contenuto">
  <p:cSld name="1_Titolo e contenut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0" y="0"/>
            <a:ext cx="12192001" cy="230188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>
  <p:cSld name="Intestazione sezi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testazione sezione">
  <p:cSld name="1_Intestazione sezion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838200" y="76835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8200" y="423862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68" name="Google Shape;68;p11"/>
          <p:cNvSpPr/>
          <p:nvPr/>
        </p:nvSpPr>
        <p:spPr>
          <a:xfrm>
            <a:off x="-1" y="6789737"/>
            <a:ext cx="12192001" cy="136525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testazione sezione">
  <p:cSld name="2_Intestazione sezione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1598140" y="1647954"/>
            <a:ext cx="8995719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1598139" y="4656144"/>
            <a:ext cx="89957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669234" y="365124"/>
            <a:ext cx="168966" cy="1325563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669234" y="365124"/>
            <a:ext cx="168966" cy="1325563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cxnSp>
        <p:nvCxnSpPr>
          <p:cNvPr id="98" name="Google Shape;98;p15"/>
          <p:cNvCxnSpPr/>
          <p:nvPr/>
        </p:nvCxnSpPr>
        <p:spPr>
          <a:xfrm>
            <a:off x="148281" y="0"/>
            <a:ext cx="0" cy="6858000"/>
          </a:xfrm>
          <a:prstGeom prst="straightConnector1">
            <a:avLst/>
          </a:prstGeom>
          <a:noFill/>
          <a:ln w="28575" cap="flat" cmpd="sng">
            <a:solidFill>
              <a:srgbClr val="EE7F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9" name="Google Shape;99;p15"/>
          <p:cNvCxnSpPr/>
          <p:nvPr/>
        </p:nvCxnSpPr>
        <p:spPr>
          <a:xfrm>
            <a:off x="0" y="6721475"/>
            <a:ext cx="12192000" cy="0"/>
          </a:xfrm>
          <a:prstGeom prst="straightConnector1">
            <a:avLst/>
          </a:prstGeom>
          <a:noFill/>
          <a:ln w="19050" cap="flat" cmpd="sng">
            <a:solidFill>
              <a:srgbClr val="7A6FA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669234" y="365124"/>
            <a:ext cx="168966" cy="1325563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669234" y="365124"/>
            <a:ext cx="168966" cy="1325563"/>
          </a:xfrm>
          <a:prstGeom prst="rect">
            <a:avLst/>
          </a:prstGeom>
          <a:solidFill>
            <a:srgbClr val="EE7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testo verticale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  <a:defRPr sz="4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203950"/>
            <a:ext cx="1371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1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  <p:pic>
        <p:nvPicPr>
          <p:cNvPr id="15" name="Google Shape;15;p4" descr="Immagine che contiene Carattere, Elementi grafici, logo, simbolo&#10;&#10;Descrizione generata automaticamente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035209" y="6037405"/>
            <a:ext cx="1900194" cy="68407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"/>
          <p:cNvSpPr txBox="1">
            <a:spLocks noGrp="1"/>
          </p:cNvSpPr>
          <p:nvPr>
            <p:ph type="ctrTitle"/>
          </p:nvPr>
        </p:nvSpPr>
        <p:spPr>
          <a:xfrm>
            <a:off x="1616743" y="2798379"/>
            <a:ext cx="7536782" cy="1642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l"/>
            <a:r>
              <a:rPr lang="it-IT" sz="2800" b="0" i="0" u="none" strike="noStrike" baseline="0" dirty="0">
                <a:latin typeface="Helvetica Neue" panose="020B0604020202020204" charset="0"/>
              </a:rPr>
              <a:t>Valutazione della compressione JPEG </a:t>
            </a:r>
            <a:br>
              <a:rPr lang="it-IT" sz="2800" b="0" i="0" u="none" strike="noStrike" baseline="0" dirty="0">
                <a:latin typeface="Helvetica Neue" panose="020B0604020202020204" charset="0"/>
              </a:rPr>
            </a:br>
            <a:r>
              <a:rPr lang="it-IT" sz="2800" b="0" i="0" u="none" strike="noStrike" baseline="0" dirty="0">
                <a:latin typeface="Helvetica Neue" panose="020B0604020202020204" charset="0"/>
              </a:rPr>
              <a:t>come tecnica di mitigazione </a:t>
            </a:r>
            <a:br>
              <a:rPr lang="it-IT" sz="2800" b="0" i="0" u="none" strike="noStrike" baseline="0" dirty="0">
                <a:latin typeface="Helvetica Neue" panose="020B0604020202020204" charset="0"/>
              </a:rPr>
            </a:br>
            <a:r>
              <a:rPr lang="it-IT" sz="2800" b="0" i="0" u="none" strike="noStrike" baseline="0" dirty="0">
                <a:latin typeface="Helvetica Neue" panose="020B0604020202020204" charset="0"/>
              </a:rPr>
              <a:t>degli attacchi avversari </a:t>
            </a:r>
            <a:br>
              <a:rPr lang="it-IT" sz="2800" b="0" i="0" u="none" strike="noStrike" baseline="0" dirty="0">
                <a:latin typeface="Helvetica Neue" panose="020B0604020202020204" charset="0"/>
              </a:rPr>
            </a:br>
            <a:r>
              <a:rPr lang="it-IT" sz="2800" b="0" i="0" u="none" strike="noStrike" baseline="0" dirty="0">
                <a:latin typeface="Helvetica Neue" panose="020B0604020202020204" charset="0"/>
              </a:rPr>
              <a:t>nella classificazione di immagini.</a:t>
            </a:r>
            <a:endParaRPr sz="2800" dirty="0">
              <a:latin typeface="Helvetica Neue" panose="020B0604020202020204" charset="0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1420425" y="5896127"/>
            <a:ext cx="8004834" cy="68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7F00"/>
              </a:buClr>
              <a:buSzPts val="1700"/>
              <a:buFont typeface="Arial"/>
              <a:buNone/>
            </a:pPr>
            <a:r>
              <a:rPr lang="it-IT" sz="1700" b="1" i="0" u="none" strike="noStrike" cap="none" dirty="0">
                <a:solidFill>
                  <a:srgbClr val="EE7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Candidato:</a:t>
            </a:r>
            <a:r>
              <a:rPr lang="it-IT" sz="17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it-IT" sz="17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Raffaella Sabatino 05121 15114</a:t>
            </a:r>
            <a:br>
              <a:rPr lang="it-IT" sz="17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it-IT" sz="1700" b="1" i="0" u="none" strike="noStrike" cap="none" dirty="0">
                <a:solidFill>
                  <a:srgbClr val="EE7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Relatore: </a:t>
            </a:r>
            <a:r>
              <a:rPr lang="it-IT" sz="17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Prof. Andrea Francesco Abate</a:t>
            </a:r>
            <a:endParaRPr dirty="0"/>
          </a:p>
        </p:txBody>
      </p:sp>
      <p:grpSp>
        <p:nvGrpSpPr>
          <p:cNvPr id="140" name="Google Shape;140;p1"/>
          <p:cNvGrpSpPr/>
          <p:nvPr/>
        </p:nvGrpSpPr>
        <p:grpSpPr>
          <a:xfrm>
            <a:off x="1616743" y="216640"/>
            <a:ext cx="9144000" cy="1679938"/>
            <a:chOff x="1616743" y="216640"/>
            <a:chExt cx="9144000" cy="1679938"/>
          </a:xfrm>
        </p:grpSpPr>
        <p:pic>
          <p:nvPicPr>
            <p:cNvPr id="141" name="Google Shape;141;p1" descr="Immagine che contiene emblema, simbolo, vestiti, cresta&#10;&#10;Descrizione generata automaticament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17477" y="216640"/>
              <a:ext cx="1157046" cy="1157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"/>
            <p:cNvSpPr txBox="1"/>
            <p:nvPr/>
          </p:nvSpPr>
          <p:spPr>
            <a:xfrm>
              <a:off x="1616743" y="1448187"/>
              <a:ext cx="9144000" cy="4483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2400"/>
                <a:buFont typeface="Arial"/>
                <a:buNone/>
              </a:pPr>
              <a:r>
                <a:rPr lang="it-IT" sz="2400" b="0" i="0" u="none" strike="noStrike" cap="none">
                  <a:solidFill>
                    <a:srgbClr val="7F7F7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Università degli Studi di Salerno</a:t>
              </a:r>
              <a:endParaRPr sz="20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43" name="Google Shape;143;p1"/>
          <p:cNvSpPr txBox="1"/>
          <p:nvPr/>
        </p:nvSpPr>
        <p:spPr>
          <a:xfrm>
            <a:off x="1616743" y="1870121"/>
            <a:ext cx="9144000" cy="448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rPr lang="it-IT" sz="2000" b="0" i="0" u="none" strike="noStrike" cap="none" dirty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Tesi di Laurea Triennale</a:t>
            </a:r>
            <a:endParaRPr sz="1800" b="0" i="0" u="none" strike="noStrike" cap="none" dirty="0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it-IT" dirty="0" err="1"/>
              <a:t>Adversarial</a:t>
            </a:r>
            <a:r>
              <a:rPr lang="it-IT" dirty="0"/>
              <a:t> Attacks</a:t>
            </a:r>
            <a:endParaRPr dirty="0"/>
          </a:p>
        </p:txBody>
      </p:sp>
      <p:sp>
        <p:nvSpPr>
          <p:cNvPr id="151" name="Google Shape;151;p2"/>
          <p:cNvSpPr txBox="1">
            <a:spLocks noGrp="1"/>
          </p:cNvSpPr>
          <p:nvPr>
            <p:ph type="sldNum" idx="12"/>
          </p:nvPr>
        </p:nvSpPr>
        <p:spPr>
          <a:xfrm>
            <a:off x="10820400" y="6481125"/>
            <a:ext cx="1371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400"/>
              <a:t>2</a:t>
            </a:fld>
            <a:endParaRPr sz="1400"/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0A527F01-22FB-1144-BB33-3DFD547EEF9D}"/>
              </a:ext>
            </a:extLst>
          </p:cNvPr>
          <p:cNvGrpSpPr/>
          <p:nvPr/>
        </p:nvGrpSpPr>
        <p:grpSpPr>
          <a:xfrm>
            <a:off x="4572158" y="1887102"/>
            <a:ext cx="3009584" cy="1953377"/>
            <a:chOff x="4697650" y="1833311"/>
            <a:chExt cx="3009584" cy="1603376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525FB371-AA9D-6062-6280-01698EE0B7DF}"/>
                </a:ext>
              </a:extLst>
            </p:cNvPr>
            <p:cNvSpPr/>
            <p:nvPr/>
          </p:nvSpPr>
          <p:spPr>
            <a:xfrm>
              <a:off x="4697650" y="1833311"/>
              <a:ext cx="3009584" cy="160337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7" name="Segnaposto testo 3">
              <a:extLst>
                <a:ext uri="{FF2B5EF4-FFF2-40B4-BE49-F238E27FC236}">
                  <a16:creationId xmlns:a16="http://schemas.microsoft.com/office/drawing/2014/main" id="{D4B030F1-FBBC-B8A4-165A-FEA660C153E1}"/>
                </a:ext>
              </a:extLst>
            </p:cNvPr>
            <p:cNvSpPr txBox="1">
              <a:spLocks/>
            </p:cNvSpPr>
            <p:nvPr/>
          </p:nvSpPr>
          <p:spPr>
            <a:xfrm>
              <a:off x="4743296" y="1879148"/>
              <a:ext cx="2890435" cy="597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800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914400" marR="0" lvl="1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400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1371600" marR="0" lvl="2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3pPr>
              <a:lvl4pPr marL="1828800" marR="0" lvl="3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4pPr>
              <a:lvl5pPr marL="2286000" marR="0" lvl="4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5pPr>
              <a:lvl6pPr marL="2743200" marR="0" lvl="5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3200400" marR="0" lvl="6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657600" marR="0" lvl="7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4114800" marR="0" lvl="8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it-IT" sz="3600" dirty="0"/>
                <a:t>Obiettivo</a:t>
              </a:r>
              <a:endParaRPr lang="it-IT" dirty="0"/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98A5B94B-B3BD-A2C9-87AA-DE5428DBB48F}"/>
                </a:ext>
              </a:extLst>
            </p:cNvPr>
            <p:cNvSpPr txBox="1"/>
            <p:nvPr/>
          </p:nvSpPr>
          <p:spPr>
            <a:xfrm>
              <a:off x="4860840" y="2541229"/>
              <a:ext cx="2676483" cy="7831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/>
                <a:t>Compromettere la precisione</a:t>
              </a:r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25873485-4D15-D03C-AA6C-50AB2A203DE4}"/>
              </a:ext>
            </a:extLst>
          </p:cNvPr>
          <p:cNvGrpSpPr/>
          <p:nvPr/>
        </p:nvGrpSpPr>
        <p:grpSpPr>
          <a:xfrm>
            <a:off x="8028066" y="1887102"/>
            <a:ext cx="3748118" cy="1953376"/>
            <a:chOff x="8047116" y="1841494"/>
            <a:chExt cx="3748118" cy="1587506"/>
          </a:xfrm>
        </p:grpSpPr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68BC5639-D352-5BD8-0DA0-9F838522EA51}"/>
                </a:ext>
              </a:extLst>
            </p:cNvPr>
            <p:cNvSpPr/>
            <p:nvPr/>
          </p:nvSpPr>
          <p:spPr>
            <a:xfrm>
              <a:off x="8047116" y="1841494"/>
              <a:ext cx="3601959" cy="158750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Segnaposto testo 3">
              <a:extLst>
                <a:ext uri="{FF2B5EF4-FFF2-40B4-BE49-F238E27FC236}">
                  <a16:creationId xmlns:a16="http://schemas.microsoft.com/office/drawing/2014/main" id="{874806D7-6ACA-7848-95CC-81DDB25942FC}"/>
                </a:ext>
              </a:extLst>
            </p:cNvPr>
            <p:cNvSpPr txBox="1">
              <a:spLocks/>
            </p:cNvSpPr>
            <p:nvPr/>
          </p:nvSpPr>
          <p:spPr>
            <a:xfrm>
              <a:off x="8242117" y="1900682"/>
              <a:ext cx="2332989" cy="588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800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914400" marR="0" lvl="1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400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1371600" marR="0" lvl="2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3pPr>
              <a:lvl4pPr marL="1828800" marR="0" lvl="3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4pPr>
              <a:lvl5pPr marL="2286000" marR="0" lvl="4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5pPr>
              <a:lvl6pPr marL="2743200" marR="0" lvl="5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3200400" marR="0" lvl="6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657600" marR="0" lvl="7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4114800" marR="0" lvl="8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it-IT" sz="3600" dirty="0"/>
                <a:t>Rischio</a:t>
              </a:r>
              <a:endParaRPr lang="it-IT" dirty="0"/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FEB9AB15-F0B0-0692-783A-D584E22237A6}"/>
                </a:ext>
              </a:extLst>
            </p:cNvPr>
            <p:cNvSpPr txBox="1"/>
            <p:nvPr/>
          </p:nvSpPr>
          <p:spPr>
            <a:xfrm>
              <a:off x="8127862" y="2542406"/>
              <a:ext cx="3667372" cy="775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/>
                <a:t>Errori riconoscimento </a:t>
              </a:r>
            </a:p>
            <a:p>
              <a:r>
                <a:rPr lang="it-IT" sz="2800" dirty="0"/>
                <a:t>di Oggetti</a:t>
              </a:r>
            </a:p>
          </p:txBody>
        </p:sp>
      </p:grpSp>
      <p:pic>
        <p:nvPicPr>
          <p:cNvPr id="15" name="Immagine 14">
            <a:extLst>
              <a:ext uri="{FF2B5EF4-FFF2-40B4-BE49-F238E27FC236}">
                <a16:creationId xmlns:a16="http://schemas.microsoft.com/office/drawing/2014/main" id="{49EE4693-44E5-EA9A-9FF7-820F5BFA9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819" y="3662797"/>
            <a:ext cx="2119949" cy="2695482"/>
          </a:xfrm>
          <a:prstGeom prst="rect">
            <a:avLst/>
          </a:prstGeom>
        </p:spPr>
      </p:pic>
      <p:grpSp>
        <p:nvGrpSpPr>
          <p:cNvPr id="25" name="Gruppo 24">
            <a:extLst>
              <a:ext uri="{FF2B5EF4-FFF2-40B4-BE49-F238E27FC236}">
                <a16:creationId xmlns:a16="http://schemas.microsoft.com/office/drawing/2014/main" id="{9E79CF76-7568-FFB2-DD7C-84ED30802EA6}"/>
              </a:ext>
            </a:extLst>
          </p:cNvPr>
          <p:cNvGrpSpPr/>
          <p:nvPr/>
        </p:nvGrpSpPr>
        <p:grpSpPr>
          <a:xfrm>
            <a:off x="664761" y="1887102"/>
            <a:ext cx="3373202" cy="1953377"/>
            <a:chOff x="721912" y="1825621"/>
            <a:chExt cx="3373202" cy="1837415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9AAB4976-2270-1684-97FC-5915A74A85C8}"/>
                </a:ext>
              </a:extLst>
            </p:cNvPr>
            <p:cNvSpPr/>
            <p:nvPr/>
          </p:nvSpPr>
          <p:spPr>
            <a:xfrm>
              <a:off x="733426" y="1825621"/>
              <a:ext cx="3361688" cy="183741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B5A1E83C-C7CB-9B92-F5A7-695E90C831D2}"/>
                </a:ext>
              </a:extLst>
            </p:cNvPr>
            <p:cNvSpPr txBox="1"/>
            <p:nvPr/>
          </p:nvSpPr>
          <p:spPr>
            <a:xfrm>
              <a:off x="895351" y="2626422"/>
              <a:ext cx="289496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/>
                <a:t>Manipolazioni dell’input</a:t>
              </a:r>
            </a:p>
          </p:txBody>
        </p:sp>
        <p:sp>
          <p:nvSpPr>
            <p:cNvPr id="22" name="Segnaposto testo 3">
              <a:extLst>
                <a:ext uri="{FF2B5EF4-FFF2-40B4-BE49-F238E27FC236}">
                  <a16:creationId xmlns:a16="http://schemas.microsoft.com/office/drawing/2014/main" id="{5DD2094C-7959-252A-7F42-753D30A7EDB1}"/>
                </a:ext>
              </a:extLst>
            </p:cNvPr>
            <p:cNvSpPr txBox="1">
              <a:spLocks/>
            </p:cNvSpPr>
            <p:nvPr/>
          </p:nvSpPr>
          <p:spPr>
            <a:xfrm>
              <a:off x="721912" y="1901850"/>
              <a:ext cx="3361688" cy="665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 lnSpcReduction="1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800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914400" marR="0" lvl="1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400" b="0" i="0" u="none" strike="noStrike" cap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1371600" marR="0" lvl="2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000" b="0" i="0" u="none" strike="noStrike" cap="non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3pPr>
              <a:lvl4pPr marL="1828800" marR="0" lvl="3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4pPr>
              <a:lvl5pPr marL="2286000" marR="0" lvl="4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lvl5pPr>
              <a:lvl6pPr marL="2743200" marR="0" lvl="5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3200400" marR="0" lvl="6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657600" marR="0" lvl="7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4114800" marR="0" lvl="8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it-IT" sz="3600" dirty="0"/>
                <a:t>Cosa sono</a:t>
              </a:r>
            </a:p>
          </p:txBody>
        </p:sp>
      </p:grpSp>
      <p:pic>
        <p:nvPicPr>
          <p:cNvPr id="30" name="Elemento grafico 29" descr="Freccia: leggera curva con riempimento a tinta unita">
            <a:extLst>
              <a:ext uri="{FF2B5EF4-FFF2-40B4-BE49-F238E27FC236}">
                <a16:creationId xmlns:a16="http://schemas.microsoft.com/office/drawing/2014/main" id="{47384662-9B0F-C700-AA1A-8DDE32CF73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9725" y="4335058"/>
            <a:ext cx="1656477" cy="1656477"/>
          </a:xfrm>
          <a:prstGeom prst="rect">
            <a:avLst/>
          </a:prstGeom>
        </p:spPr>
      </p:pic>
      <p:pic>
        <p:nvPicPr>
          <p:cNvPr id="32" name="Immagine 31">
            <a:extLst>
              <a:ext uri="{FF2B5EF4-FFF2-40B4-BE49-F238E27FC236}">
                <a16:creationId xmlns:a16="http://schemas.microsoft.com/office/drawing/2014/main" id="{2D6738C4-C254-86F0-E9F2-02455F437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673" y="4162659"/>
            <a:ext cx="1828876" cy="1828876"/>
          </a:xfrm>
          <a:prstGeom prst="rect">
            <a:avLst/>
          </a:prstGeom>
        </p:spPr>
      </p:pic>
      <p:pic>
        <p:nvPicPr>
          <p:cNvPr id="33" name="Elemento grafico 32" descr="Freccia: leggera curva con riempimento a tinta unita">
            <a:extLst>
              <a:ext uri="{FF2B5EF4-FFF2-40B4-BE49-F238E27FC236}">
                <a16:creationId xmlns:a16="http://schemas.microsoft.com/office/drawing/2014/main" id="{4B753E19-5C00-DF13-3FA2-A2AC69989A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6822" y="4309569"/>
            <a:ext cx="1703981" cy="1703981"/>
          </a:xfrm>
          <a:prstGeom prst="rect">
            <a:avLst/>
          </a:prstGeom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D4FDA039-6866-1DB6-BDE0-3E9CF5EFD4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5590" y="4218855"/>
            <a:ext cx="1716483" cy="1716483"/>
          </a:xfrm>
          <a:prstGeom prst="rect">
            <a:avLst/>
          </a:prstGeom>
        </p:spPr>
      </p:pic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020F0176-77F2-9F0C-CDD2-4B7F30325363}"/>
              </a:ext>
            </a:extLst>
          </p:cNvPr>
          <p:cNvCxnSpPr>
            <a:cxnSpLocks/>
          </p:cNvCxnSpPr>
          <p:nvPr/>
        </p:nvCxnSpPr>
        <p:spPr>
          <a:xfrm>
            <a:off x="676275" y="2671132"/>
            <a:ext cx="3350174" cy="4754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1FF281E4-B4BB-59E1-A988-27D8ED017502}"/>
              </a:ext>
            </a:extLst>
          </p:cNvPr>
          <p:cNvCxnSpPr>
            <a:cxnSpLocks/>
          </p:cNvCxnSpPr>
          <p:nvPr/>
        </p:nvCxnSpPr>
        <p:spPr>
          <a:xfrm>
            <a:off x="4565438" y="2702864"/>
            <a:ext cx="3016304" cy="14955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62035300-2DAE-4581-F043-954C613FAC20}"/>
              </a:ext>
            </a:extLst>
          </p:cNvPr>
          <p:cNvCxnSpPr>
            <a:cxnSpLocks/>
          </p:cNvCxnSpPr>
          <p:nvPr/>
        </p:nvCxnSpPr>
        <p:spPr>
          <a:xfrm>
            <a:off x="8028066" y="2732359"/>
            <a:ext cx="3601959" cy="17192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Attacks</a:t>
            </a:r>
            <a:endParaRPr dirty="0"/>
          </a:p>
        </p:txBody>
      </p:sp>
      <p:sp>
        <p:nvSpPr>
          <p:cNvPr id="151" name="Google Shape;151;p2"/>
          <p:cNvSpPr txBox="1">
            <a:spLocks noGrp="1"/>
          </p:cNvSpPr>
          <p:nvPr>
            <p:ph type="sldNum" idx="12"/>
          </p:nvPr>
        </p:nvSpPr>
        <p:spPr>
          <a:xfrm>
            <a:off x="10820400" y="6481125"/>
            <a:ext cx="1371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400"/>
              <a:t>3</a:t>
            </a:fld>
            <a:endParaRPr sz="140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22B86FF-4367-E4DD-5894-3521D20E2664}"/>
              </a:ext>
            </a:extLst>
          </p:cNvPr>
          <p:cNvSpPr txBox="1"/>
          <p:nvPr/>
        </p:nvSpPr>
        <p:spPr>
          <a:xfrm>
            <a:off x="838200" y="1362083"/>
            <a:ext cx="109768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Possiamo immaginare la funzione di perdita di un modello come una montagna: l’obbiettivo in fase di addestramento è di trovarne la base. Gli attacchi basati su gradiente tendono a spingere il modello verso i picchi in cui ha più probabilità di sbagliare.</a:t>
            </a: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724C4B30-3719-4D76-8A08-F19390BFB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053" y="2959228"/>
            <a:ext cx="8341894" cy="399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01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Attacks</a:t>
            </a:r>
            <a:endParaRPr dirty="0"/>
          </a:p>
        </p:txBody>
      </p:sp>
      <p:sp>
        <p:nvSpPr>
          <p:cNvPr id="151" name="Google Shape;151;p2"/>
          <p:cNvSpPr txBox="1">
            <a:spLocks noGrp="1"/>
          </p:cNvSpPr>
          <p:nvPr>
            <p:ph type="sldNum" idx="12"/>
          </p:nvPr>
        </p:nvSpPr>
        <p:spPr>
          <a:xfrm>
            <a:off x="10820400" y="6481125"/>
            <a:ext cx="1371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400"/>
              <a:t>4</a:t>
            </a:fld>
            <a:endParaRPr sz="140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22B86FF-4367-E4DD-5894-3521D20E2664}"/>
              </a:ext>
            </a:extLst>
          </p:cNvPr>
          <p:cNvSpPr txBox="1"/>
          <p:nvPr/>
        </p:nvSpPr>
        <p:spPr>
          <a:xfrm>
            <a:off x="831657" y="1691863"/>
            <a:ext cx="10887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Sfruttano le informazioni sul gradiente del modello per produrre perturbazioni ad hoc.</a:t>
            </a: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69D9A1D1-5184-F727-ADE6-E3A3BEBA21DD}"/>
              </a:ext>
            </a:extLst>
          </p:cNvPr>
          <p:cNvGrpSpPr/>
          <p:nvPr/>
        </p:nvGrpSpPr>
        <p:grpSpPr>
          <a:xfrm>
            <a:off x="554635" y="2882530"/>
            <a:ext cx="3432566" cy="3143786"/>
            <a:chOff x="554635" y="2882530"/>
            <a:chExt cx="3432566" cy="2207910"/>
          </a:xfrm>
        </p:grpSpPr>
        <p:sp>
          <p:nvSpPr>
            <p:cNvPr id="8" name="Rettangolo con un angolo in alto arrotondato e l'altro ritagliato 7">
              <a:extLst>
                <a:ext uri="{FF2B5EF4-FFF2-40B4-BE49-F238E27FC236}">
                  <a16:creationId xmlns:a16="http://schemas.microsoft.com/office/drawing/2014/main" id="{DE58E30F-E0F8-21D8-B97D-4FE5A2AF017C}"/>
                </a:ext>
              </a:extLst>
            </p:cNvPr>
            <p:cNvSpPr/>
            <p:nvPr/>
          </p:nvSpPr>
          <p:spPr>
            <a:xfrm>
              <a:off x="554635" y="2950771"/>
              <a:ext cx="3383752" cy="2139669"/>
            </a:xfrm>
            <a:prstGeom prst="snip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8C85EB8A-A1A2-DA54-ABB8-D49AD79CCBA0}"/>
                </a:ext>
              </a:extLst>
            </p:cNvPr>
            <p:cNvSpPr txBox="1"/>
            <p:nvPr/>
          </p:nvSpPr>
          <p:spPr>
            <a:xfrm>
              <a:off x="621529" y="3795981"/>
              <a:ext cx="3138486" cy="11322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it-IT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Standard per i test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it-IT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di Robustezza</a:t>
              </a:r>
            </a:p>
            <a:p>
              <a:pPr marL="342900" marR="0" lvl="0" indent="-34290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it-IT" sz="2400" dirty="0">
                  <a:ea typeface="+mn-ea"/>
                </a:rPr>
                <a:t>Proiezioni sullo spazio decisionale </a:t>
              </a: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6D5C1BF4-9DF1-2315-93A9-E4785F2378F4}"/>
                </a:ext>
              </a:extLst>
            </p:cNvPr>
            <p:cNvSpPr txBox="1"/>
            <p:nvPr/>
          </p:nvSpPr>
          <p:spPr>
            <a:xfrm>
              <a:off x="554635" y="3085668"/>
              <a:ext cx="328612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it-IT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PGD (</a:t>
              </a:r>
              <a:r>
                <a:rPr kumimoji="0" lang="it-IT" sz="2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Projected</a:t>
              </a:r>
              <a:r>
                <a:rPr kumimoji="0" lang="it-IT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 </a:t>
              </a:r>
              <a:r>
                <a:rPr kumimoji="0" lang="it-IT" sz="2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Gradient</a:t>
              </a:r>
              <a:r>
                <a:rPr kumimoji="0" lang="it-IT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 </a:t>
              </a:r>
              <a:r>
                <a:rPr kumimoji="0" lang="it-IT" sz="2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Descent</a:t>
              </a:r>
              <a:r>
                <a:rPr kumimoji="0" lang="it-IT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)</a:t>
              </a:r>
            </a:p>
          </p:txBody>
        </p:sp>
        <p:pic>
          <p:nvPicPr>
            <p:cNvPr id="16" name="Elemento grafico 15" descr="Blocca con riempimento a tinta unita">
              <a:extLst>
                <a:ext uri="{FF2B5EF4-FFF2-40B4-BE49-F238E27FC236}">
                  <a16:creationId xmlns:a16="http://schemas.microsoft.com/office/drawing/2014/main" id="{B9DE5C4D-86D3-6099-8D1B-40251AB1F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32829" y="2882530"/>
              <a:ext cx="454372" cy="454372"/>
            </a:xfrm>
            <a:prstGeom prst="rect">
              <a:avLst/>
            </a:prstGeom>
          </p:spPr>
        </p:pic>
      </p:grpSp>
      <p:grpSp>
        <p:nvGrpSpPr>
          <p:cNvPr id="4" name="Gruppo 3">
            <a:extLst>
              <a:ext uri="{FF2B5EF4-FFF2-40B4-BE49-F238E27FC236}">
                <a16:creationId xmlns:a16="http://schemas.microsoft.com/office/drawing/2014/main" id="{DD349A56-6EC9-37CF-ECB1-BE75C3D544A1}"/>
              </a:ext>
            </a:extLst>
          </p:cNvPr>
          <p:cNvGrpSpPr/>
          <p:nvPr/>
        </p:nvGrpSpPr>
        <p:grpSpPr>
          <a:xfrm>
            <a:off x="4294382" y="2906653"/>
            <a:ext cx="3661603" cy="3347725"/>
            <a:chOff x="4294382" y="2906653"/>
            <a:chExt cx="3661603" cy="2692676"/>
          </a:xfrm>
        </p:grpSpPr>
        <p:sp>
          <p:nvSpPr>
            <p:cNvPr id="10" name="Rettangolo con un angolo in alto arrotondato e l'altro ritagliato 9">
              <a:extLst>
                <a:ext uri="{FF2B5EF4-FFF2-40B4-BE49-F238E27FC236}">
                  <a16:creationId xmlns:a16="http://schemas.microsoft.com/office/drawing/2014/main" id="{8C2113D5-9FF9-78AD-D538-7E9AAAFBC0F9}"/>
                </a:ext>
              </a:extLst>
            </p:cNvPr>
            <p:cNvSpPr/>
            <p:nvPr/>
          </p:nvSpPr>
          <p:spPr>
            <a:xfrm>
              <a:off x="4294382" y="2950771"/>
              <a:ext cx="3589737" cy="2465121"/>
            </a:xfrm>
            <a:prstGeom prst="snip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B56C6F87-6F0A-B69E-11BB-C24AF5B0E46D}"/>
                </a:ext>
              </a:extLst>
            </p:cNvPr>
            <p:cNvSpPr txBox="1"/>
            <p:nvPr/>
          </p:nvSpPr>
          <p:spPr>
            <a:xfrm>
              <a:off x="4294382" y="3104642"/>
              <a:ext cx="351857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it-IT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BIM (Basic Iterative Method (IFGSM))</a:t>
              </a:r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3CC59E42-92E4-6642-7EC5-F0767E3A8940}"/>
                </a:ext>
              </a:extLst>
            </p:cNvPr>
            <p:cNvSpPr txBox="1"/>
            <p:nvPr/>
          </p:nvSpPr>
          <p:spPr>
            <a:xfrm>
              <a:off x="4348068" y="3866451"/>
              <a:ext cx="3464892" cy="1732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marR="0" lvl="0" indent="-4572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it-IT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Versione Iterativa di FGSM</a:t>
              </a:r>
            </a:p>
            <a:p>
              <a:pPr marL="457200" marR="0" lvl="0" indent="-45720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it-IT" sz="2400" dirty="0">
                  <a:ea typeface="+mn-ea"/>
                </a:rPr>
                <a:t>Cambio Segno del gradiente per max perdita</a:t>
              </a:r>
              <a:endParaRPr kumimoji="0" lang="it-IT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  <a:p>
              <a:pPr marL="457200" marR="0" lvl="0" indent="-45720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it-IT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18" name="Elemento grafico 17" descr="Frecce a zig zag con riempimento a tinta unita">
              <a:extLst>
                <a:ext uri="{FF2B5EF4-FFF2-40B4-BE49-F238E27FC236}">
                  <a16:creationId xmlns:a16="http://schemas.microsoft.com/office/drawing/2014/main" id="{E8B48879-5F6C-3E9C-4E4E-60E2B75AD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34717" y="2906653"/>
              <a:ext cx="421268" cy="421268"/>
            </a:xfrm>
            <a:prstGeom prst="rect">
              <a:avLst/>
            </a:prstGeom>
          </p:spPr>
        </p:pic>
      </p:grpSp>
      <p:grpSp>
        <p:nvGrpSpPr>
          <p:cNvPr id="3" name="Gruppo 2">
            <a:extLst>
              <a:ext uri="{FF2B5EF4-FFF2-40B4-BE49-F238E27FC236}">
                <a16:creationId xmlns:a16="http://schemas.microsoft.com/office/drawing/2014/main" id="{CDC253C4-A6FA-D259-5D07-A3CD2C7A2F6B}"/>
              </a:ext>
            </a:extLst>
          </p:cNvPr>
          <p:cNvGrpSpPr/>
          <p:nvPr/>
        </p:nvGrpSpPr>
        <p:grpSpPr>
          <a:xfrm>
            <a:off x="8286559" y="2879187"/>
            <a:ext cx="3667021" cy="3245388"/>
            <a:chOff x="8286559" y="2879187"/>
            <a:chExt cx="3667021" cy="3375192"/>
          </a:xfrm>
        </p:grpSpPr>
        <p:sp>
          <p:nvSpPr>
            <p:cNvPr id="13" name="Rettangolo con un angolo in alto arrotondato e l'altro ritagliato 12">
              <a:extLst>
                <a:ext uri="{FF2B5EF4-FFF2-40B4-BE49-F238E27FC236}">
                  <a16:creationId xmlns:a16="http://schemas.microsoft.com/office/drawing/2014/main" id="{1F03BDE6-04E4-7642-E2DD-81DA2FE066DB}"/>
                </a:ext>
              </a:extLst>
            </p:cNvPr>
            <p:cNvSpPr/>
            <p:nvPr/>
          </p:nvSpPr>
          <p:spPr>
            <a:xfrm>
              <a:off x="8286559" y="2950771"/>
              <a:ext cx="3667021" cy="3303608"/>
            </a:xfrm>
            <a:custGeom>
              <a:avLst/>
              <a:gdLst>
                <a:gd name="connsiteX0" fmla="*/ 526367 w 3158136"/>
                <a:gd name="connsiteY0" fmla="*/ 0 h 3213080"/>
                <a:gd name="connsiteX1" fmla="*/ 2631769 w 3158136"/>
                <a:gd name="connsiteY1" fmla="*/ 0 h 3213080"/>
                <a:gd name="connsiteX2" fmla="*/ 3158136 w 3158136"/>
                <a:gd name="connsiteY2" fmla="*/ 526367 h 3213080"/>
                <a:gd name="connsiteX3" fmla="*/ 3158136 w 3158136"/>
                <a:gd name="connsiteY3" fmla="*/ 3213080 h 3213080"/>
                <a:gd name="connsiteX4" fmla="*/ 0 w 3158136"/>
                <a:gd name="connsiteY4" fmla="*/ 3213080 h 3213080"/>
                <a:gd name="connsiteX5" fmla="*/ 0 w 3158136"/>
                <a:gd name="connsiteY5" fmla="*/ 526367 h 3213080"/>
                <a:gd name="connsiteX6" fmla="*/ 526367 w 3158136"/>
                <a:gd name="connsiteY6" fmla="*/ 0 h 3213080"/>
                <a:gd name="connsiteX0" fmla="*/ 535892 w 3167661"/>
                <a:gd name="connsiteY0" fmla="*/ 0 h 3965555"/>
                <a:gd name="connsiteX1" fmla="*/ 2641294 w 3167661"/>
                <a:gd name="connsiteY1" fmla="*/ 0 h 3965555"/>
                <a:gd name="connsiteX2" fmla="*/ 3167661 w 3167661"/>
                <a:gd name="connsiteY2" fmla="*/ 526367 h 3965555"/>
                <a:gd name="connsiteX3" fmla="*/ 3167661 w 3167661"/>
                <a:gd name="connsiteY3" fmla="*/ 3213080 h 3965555"/>
                <a:gd name="connsiteX4" fmla="*/ 0 w 3167661"/>
                <a:gd name="connsiteY4" fmla="*/ 3965555 h 3965555"/>
                <a:gd name="connsiteX5" fmla="*/ 9525 w 3167661"/>
                <a:gd name="connsiteY5" fmla="*/ 526367 h 3965555"/>
                <a:gd name="connsiteX6" fmla="*/ 535892 w 3167661"/>
                <a:gd name="connsiteY6" fmla="*/ 0 h 3965555"/>
                <a:gd name="connsiteX0" fmla="*/ 535892 w 3167661"/>
                <a:gd name="connsiteY0" fmla="*/ 0 h 3965555"/>
                <a:gd name="connsiteX1" fmla="*/ 2641294 w 3167661"/>
                <a:gd name="connsiteY1" fmla="*/ 0 h 3965555"/>
                <a:gd name="connsiteX2" fmla="*/ 3167661 w 3167661"/>
                <a:gd name="connsiteY2" fmla="*/ 526367 h 3965555"/>
                <a:gd name="connsiteX3" fmla="*/ 3167661 w 3167661"/>
                <a:gd name="connsiteY3" fmla="*/ 3213080 h 3965555"/>
                <a:gd name="connsiteX4" fmla="*/ 0 w 3167661"/>
                <a:gd name="connsiteY4" fmla="*/ 3965555 h 3965555"/>
                <a:gd name="connsiteX5" fmla="*/ 9525 w 3167661"/>
                <a:gd name="connsiteY5" fmla="*/ 526367 h 3965555"/>
                <a:gd name="connsiteX6" fmla="*/ 535892 w 3167661"/>
                <a:gd name="connsiteY6" fmla="*/ 0 h 3965555"/>
                <a:gd name="connsiteX0" fmla="*/ 535892 w 3167661"/>
                <a:gd name="connsiteY0" fmla="*/ 0 h 3965555"/>
                <a:gd name="connsiteX1" fmla="*/ 2641294 w 3167661"/>
                <a:gd name="connsiteY1" fmla="*/ 0 h 3965555"/>
                <a:gd name="connsiteX2" fmla="*/ 3167661 w 3167661"/>
                <a:gd name="connsiteY2" fmla="*/ 526367 h 3965555"/>
                <a:gd name="connsiteX3" fmla="*/ 3167661 w 3167661"/>
                <a:gd name="connsiteY3" fmla="*/ 3213080 h 3965555"/>
                <a:gd name="connsiteX4" fmla="*/ 0 w 3167661"/>
                <a:gd name="connsiteY4" fmla="*/ 3965555 h 3965555"/>
                <a:gd name="connsiteX5" fmla="*/ 9525 w 3167661"/>
                <a:gd name="connsiteY5" fmla="*/ 526367 h 3965555"/>
                <a:gd name="connsiteX6" fmla="*/ 535892 w 3167661"/>
                <a:gd name="connsiteY6" fmla="*/ 0 h 3965555"/>
                <a:gd name="connsiteX0" fmla="*/ 535892 w 3167661"/>
                <a:gd name="connsiteY0" fmla="*/ 0 h 3965555"/>
                <a:gd name="connsiteX1" fmla="*/ 2641294 w 3167661"/>
                <a:gd name="connsiteY1" fmla="*/ 0 h 3965555"/>
                <a:gd name="connsiteX2" fmla="*/ 3167661 w 3167661"/>
                <a:gd name="connsiteY2" fmla="*/ 526367 h 3965555"/>
                <a:gd name="connsiteX3" fmla="*/ 3167661 w 3167661"/>
                <a:gd name="connsiteY3" fmla="*/ 3213080 h 3965555"/>
                <a:gd name="connsiteX4" fmla="*/ 0 w 3167661"/>
                <a:gd name="connsiteY4" fmla="*/ 3965555 h 3965555"/>
                <a:gd name="connsiteX5" fmla="*/ 9525 w 3167661"/>
                <a:gd name="connsiteY5" fmla="*/ 526367 h 3965555"/>
                <a:gd name="connsiteX6" fmla="*/ 535892 w 3167661"/>
                <a:gd name="connsiteY6" fmla="*/ 0 h 3965555"/>
                <a:gd name="connsiteX0" fmla="*/ 535892 w 3291486"/>
                <a:gd name="connsiteY0" fmla="*/ 0 h 3965555"/>
                <a:gd name="connsiteX1" fmla="*/ 2641294 w 3291486"/>
                <a:gd name="connsiteY1" fmla="*/ 0 h 3965555"/>
                <a:gd name="connsiteX2" fmla="*/ 3167661 w 3291486"/>
                <a:gd name="connsiteY2" fmla="*/ 526367 h 3965555"/>
                <a:gd name="connsiteX3" fmla="*/ 3291486 w 3291486"/>
                <a:gd name="connsiteY3" fmla="*/ 3213080 h 3965555"/>
                <a:gd name="connsiteX4" fmla="*/ 0 w 3291486"/>
                <a:gd name="connsiteY4" fmla="*/ 3965555 h 3965555"/>
                <a:gd name="connsiteX5" fmla="*/ 9525 w 3291486"/>
                <a:gd name="connsiteY5" fmla="*/ 526367 h 3965555"/>
                <a:gd name="connsiteX6" fmla="*/ 535892 w 3291486"/>
                <a:gd name="connsiteY6" fmla="*/ 0 h 3965555"/>
                <a:gd name="connsiteX0" fmla="*/ 535892 w 3291486"/>
                <a:gd name="connsiteY0" fmla="*/ 0 h 3965555"/>
                <a:gd name="connsiteX1" fmla="*/ 2641294 w 3291486"/>
                <a:gd name="connsiteY1" fmla="*/ 0 h 3965555"/>
                <a:gd name="connsiteX2" fmla="*/ 3167661 w 3291486"/>
                <a:gd name="connsiteY2" fmla="*/ 526367 h 3965555"/>
                <a:gd name="connsiteX3" fmla="*/ 3291486 w 3291486"/>
                <a:gd name="connsiteY3" fmla="*/ 3213080 h 3965555"/>
                <a:gd name="connsiteX4" fmla="*/ 0 w 3291486"/>
                <a:gd name="connsiteY4" fmla="*/ 3965555 h 3965555"/>
                <a:gd name="connsiteX5" fmla="*/ 9525 w 3291486"/>
                <a:gd name="connsiteY5" fmla="*/ 526367 h 3965555"/>
                <a:gd name="connsiteX6" fmla="*/ 535892 w 3291486"/>
                <a:gd name="connsiteY6" fmla="*/ 0 h 3965555"/>
                <a:gd name="connsiteX0" fmla="*/ 535892 w 3291486"/>
                <a:gd name="connsiteY0" fmla="*/ 0 h 3965555"/>
                <a:gd name="connsiteX1" fmla="*/ 2641294 w 3291486"/>
                <a:gd name="connsiteY1" fmla="*/ 0 h 3965555"/>
                <a:gd name="connsiteX2" fmla="*/ 3167661 w 3291486"/>
                <a:gd name="connsiteY2" fmla="*/ 526367 h 3965555"/>
                <a:gd name="connsiteX3" fmla="*/ 3291486 w 3291486"/>
                <a:gd name="connsiteY3" fmla="*/ 3213080 h 3965555"/>
                <a:gd name="connsiteX4" fmla="*/ 0 w 3291486"/>
                <a:gd name="connsiteY4" fmla="*/ 3965555 h 3965555"/>
                <a:gd name="connsiteX5" fmla="*/ 9525 w 3291486"/>
                <a:gd name="connsiteY5" fmla="*/ 526367 h 3965555"/>
                <a:gd name="connsiteX6" fmla="*/ 535892 w 3291486"/>
                <a:gd name="connsiteY6" fmla="*/ 0 h 3965555"/>
                <a:gd name="connsiteX0" fmla="*/ 535892 w 3304245"/>
                <a:gd name="connsiteY0" fmla="*/ 0 h 3965555"/>
                <a:gd name="connsiteX1" fmla="*/ 2641294 w 3304245"/>
                <a:gd name="connsiteY1" fmla="*/ 0 h 3965555"/>
                <a:gd name="connsiteX2" fmla="*/ 3167661 w 3304245"/>
                <a:gd name="connsiteY2" fmla="*/ 526367 h 3965555"/>
                <a:gd name="connsiteX3" fmla="*/ 3291486 w 3304245"/>
                <a:gd name="connsiteY3" fmla="*/ 3213080 h 3965555"/>
                <a:gd name="connsiteX4" fmla="*/ 0 w 3304245"/>
                <a:gd name="connsiteY4" fmla="*/ 3965555 h 3965555"/>
                <a:gd name="connsiteX5" fmla="*/ 9525 w 3304245"/>
                <a:gd name="connsiteY5" fmla="*/ 526367 h 3965555"/>
                <a:gd name="connsiteX6" fmla="*/ 535892 w 3304245"/>
                <a:gd name="connsiteY6" fmla="*/ 0 h 3965555"/>
                <a:gd name="connsiteX0" fmla="*/ 526367 w 3294997"/>
                <a:gd name="connsiteY0" fmla="*/ 0 h 3822680"/>
                <a:gd name="connsiteX1" fmla="*/ 2631769 w 3294997"/>
                <a:gd name="connsiteY1" fmla="*/ 0 h 3822680"/>
                <a:gd name="connsiteX2" fmla="*/ 3158136 w 3294997"/>
                <a:gd name="connsiteY2" fmla="*/ 526367 h 3822680"/>
                <a:gd name="connsiteX3" fmla="*/ 3281961 w 3294997"/>
                <a:gd name="connsiteY3" fmla="*/ 3213080 h 3822680"/>
                <a:gd name="connsiteX4" fmla="*/ 28575 w 3294997"/>
                <a:gd name="connsiteY4" fmla="*/ 3822680 h 3822680"/>
                <a:gd name="connsiteX5" fmla="*/ 0 w 3294997"/>
                <a:gd name="connsiteY5" fmla="*/ 526367 h 3822680"/>
                <a:gd name="connsiteX6" fmla="*/ 526367 w 3294997"/>
                <a:gd name="connsiteY6" fmla="*/ 0 h 3822680"/>
                <a:gd name="connsiteX0" fmla="*/ 526367 w 3294927"/>
                <a:gd name="connsiteY0" fmla="*/ 0 h 4003655"/>
                <a:gd name="connsiteX1" fmla="*/ 2631769 w 3294927"/>
                <a:gd name="connsiteY1" fmla="*/ 0 h 4003655"/>
                <a:gd name="connsiteX2" fmla="*/ 3158136 w 3294927"/>
                <a:gd name="connsiteY2" fmla="*/ 526367 h 4003655"/>
                <a:gd name="connsiteX3" fmla="*/ 3281961 w 3294927"/>
                <a:gd name="connsiteY3" fmla="*/ 3213080 h 4003655"/>
                <a:gd name="connsiteX4" fmla="*/ 19050 w 3294927"/>
                <a:gd name="connsiteY4" fmla="*/ 4003655 h 4003655"/>
                <a:gd name="connsiteX5" fmla="*/ 0 w 3294927"/>
                <a:gd name="connsiteY5" fmla="*/ 526367 h 4003655"/>
                <a:gd name="connsiteX6" fmla="*/ 526367 w 3294927"/>
                <a:gd name="connsiteY6" fmla="*/ 0 h 4003655"/>
                <a:gd name="connsiteX0" fmla="*/ 526367 w 3313838"/>
                <a:gd name="connsiteY0" fmla="*/ 0 h 4003655"/>
                <a:gd name="connsiteX1" fmla="*/ 2631769 w 3313838"/>
                <a:gd name="connsiteY1" fmla="*/ 0 h 4003655"/>
                <a:gd name="connsiteX2" fmla="*/ 3158136 w 3313838"/>
                <a:gd name="connsiteY2" fmla="*/ 526367 h 4003655"/>
                <a:gd name="connsiteX3" fmla="*/ 3301011 w 3313838"/>
                <a:gd name="connsiteY3" fmla="*/ 3327380 h 4003655"/>
                <a:gd name="connsiteX4" fmla="*/ 19050 w 3313838"/>
                <a:gd name="connsiteY4" fmla="*/ 4003655 h 4003655"/>
                <a:gd name="connsiteX5" fmla="*/ 0 w 3313838"/>
                <a:gd name="connsiteY5" fmla="*/ 526367 h 4003655"/>
                <a:gd name="connsiteX6" fmla="*/ 526367 w 3313838"/>
                <a:gd name="connsiteY6" fmla="*/ 0 h 4003655"/>
                <a:gd name="connsiteX0" fmla="*/ 526367 w 3314236"/>
                <a:gd name="connsiteY0" fmla="*/ 0 h 3790204"/>
                <a:gd name="connsiteX1" fmla="*/ 2631769 w 3314236"/>
                <a:gd name="connsiteY1" fmla="*/ 0 h 3790204"/>
                <a:gd name="connsiteX2" fmla="*/ 3158136 w 3314236"/>
                <a:gd name="connsiteY2" fmla="*/ 526367 h 3790204"/>
                <a:gd name="connsiteX3" fmla="*/ 3301011 w 3314236"/>
                <a:gd name="connsiteY3" fmla="*/ 3327380 h 3790204"/>
                <a:gd name="connsiteX4" fmla="*/ 72609 w 3314236"/>
                <a:gd name="connsiteY4" fmla="*/ 3790204 h 3790204"/>
                <a:gd name="connsiteX5" fmla="*/ 0 w 3314236"/>
                <a:gd name="connsiteY5" fmla="*/ 526367 h 3790204"/>
                <a:gd name="connsiteX6" fmla="*/ 526367 w 3314236"/>
                <a:gd name="connsiteY6" fmla="*/ 0 h 3790204"/>
                <a:gd name="connsiteX0" fmla="*/ 526367 w 3313838"/>
                <a:gd name="connsiteY0" fmla="*/ 0 h 3778345"/>
                <a:gd name="connsiteX1" fmla="*/ 2631769 w 3313838"/>
                <a:gd name="connsiteY1" fmla="*/ 0 h 3778345"/>
                <a:gd name="connsiteX2" fmla="*/ 3158136 w 3313838"/>
                <a:gd name="connsiteY2" fmla="*/ 526367 h 3778345"/>
                <a:gd name="connsiteX3" fmla="*/ 3301011 w 3313838"/>
                <a:gd name="connsiteY3" fmla="*/ 3327380 h 3778345"/>
                <a:gd name="connsiteX4" fmla="*/ 19051 w 3313838"/>
                <a:gd name="connsiteY4" fmla="*/ 3778345 h 3778345"/>
                <a:gd name="connsiteX5" fmla="*/ 0 w 3313838"/>
                <a:gd name="connsiteY5" fmla="*/ 526367 h 3778345"/>
                <a:gd name="connsiteX6" fmla="*/ 526367 w 3313838"/>
                <a:gd name="connsiteY6" fmla="*/ 0 h 3778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3838" h="3778345">
                  <a:moveTo>
                    <a:pt x="526367" y="0"/>
                  </a:moveTo>
                  <a:lnTo>
                    <a:pt x="2631769" y="0"/>
                  </a:lnTo>
                  <a:lnTo>
                    <a:pt x="3158136" y="526367"/>
                  </a:lnTo>
                  <a:lnTo>
                    <a:pt x="3301011" y="3327380"/>
                  </a:lnTo>
                  <a:cubicBezTo>
                    <a:pt x="3473849" y="3616305"/>
                    <a:pt x="1875038" y="1879695"/>
                    <a:pt x="19051" y="3778345"/>
                  </a:cubicBezTo>
                  <a:cubicBezTo>
                    <a:pt x="19051" y="2882774"/>
                    <a:pt x="0" y="1421938"/>
                    <a:pt x="0" y="526367"/>
                  </a:cubicBezTo>
                  <a:cubicBezTo>
                    <a:pt x="0" y="235663"/>
                    <a:pt x="235663" y="0"/>
                    <a:pt x="526367" y="0"/>
                  </a:cubicBezTo>
                  <a:close/>
                </a:path>
              </a:pathLst>
            </a:cu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17BD9978-0B09-B0BD-E842-C8AB906C577C}"/>
                </a:ext>
              </a:extLst>
            </p:cNvPr>
            <p:cNvSpPr txBox="1"/>
            <p:nvPr/>
          </p:nvSpPr>
          <p:spPr>
            <a:xfrm>
              <a:off x="8947708" y="3075292"/>
              <a:ext cx="21767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it-IT" sz="2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Autoattack</a:t>
              </a:r>
              <a:endParaRPr kumimoji="0" lang="it-IT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D6C64E0D-9BAA-D8F9-46AC-62D17485949B}"/>
                </a:ext>
              </a:extLst>
            </p:cNvPr>
            <p:cNvSpPr txBox="1"/>
            <p:nvPr/>
          </p:nvSpPr>
          <p:spPr>
            <a:xfrm>
              <a:off x="8286559" y="3548715"/>
              <a:ext cx="3589228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it-IT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rPr>
                <a:t>Benchmark completo che unisce multiple Strategie di Attacco </a:t>
              </a:r>
            </a:p>
            <a:p>
              <a:pPr marL="342900" marR="0" lvl="0" indent="-34290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it-IT" sz="2400" dirty="0">
                  <a:ea typeface="+mn-ea"/>
                </a:rPr>
                <a:t>Versioni ottimizzate di PGD, FAB e </a:t>
              </a:r>
              <a:r>
                <a:rPr lang="it-IT" sz="2400" dirty="0" err="1">
                  <a:ea typeface="+mn-ea"/>
                </a:rPr>
                <a:t>Square</a:t>
              </a:r>
              <a:endParaRPr lang="it-IT" sz="2400" dirty="0">
                <a:ea typeface="+mn-ea"/>
              </a:endParaRPr>
            </a:p>
            <a:p>
              <a:pPr marL="342900" marR="0" lvl="0" indent="-34290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20" name="Elemento grafico 19" descr="Valigetta con riempimento a tinta unita">
              <a:extLst>
                <a:ext uri="{FF2B5EF4-FFF2-40B4-BE49-F238E27FC236}">
                  <a16:creationId xmlns:a16="http://schemas.microsoft.com/office/drawing/2014/main" id="{4CD04459-56C2-B21E-DBA2-2D3D7DF2C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370272" y="2879187"/>
              <a:ext cx="476201" cy="4762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94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it-IT" dirty="0"/>
              <a:t>Compressione JPEG</a:t>
            </a:r>
            <a:endParaRPr dirty="0"/>
          </a:p>
        </p:txBody>
      </p:sp>
      <p:sp>
        <p:nvSpPr>
          <p:cNvPr id="151" name="Google Shape;151;p2"/>
          <p:cNvSpPr txBox="1">
            <a:spLocks noGrp="1"/>
          </p:cNvSpPr>
          <p:nvPr>
            <p:ph type="sldNum" idx="12"/>
          </p:nvPr>
        </p:nvSpPr>
        <p:spPr>
          <a:xfrm>
            <a:off x="10820400" y="6481125"/>
            <a:ext cx="1371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400"/>
              <a:t>5</a:t>
            </a:fld>
            <a:endParaRPr sz="1400"/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9A1D0EB9-11D0-75F3-C638-3A2EF167B6D6}"/>
              </a:ext>
            </a:extLst>
          </p:cNvPr>
          <p:cNvGrpSpPr/>
          <p:nvPr/>
        </p:nvGrpSpPr>
        <p:grpSpPr>
          <a:xfrm>
            <a:off x="1219199" y="2028826"/>
            <a:ext cx="4286251" cy="3733800"/>
            <a:chOff x="466724" y="2028826"/>
            <a:chExt cx="4286251" cy="37338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" name="Rettangolo con un angolo in alto arrotondato e l'altro ritagliato 1">
              <a:extLst>
                <a:ext uri="{FF2B5EF4-FFF2-40B4-BE49-F238E27FC236}">
                  <a16:creationId xmlns:a16="http://schemas.microsoft.com/office/drawing/2014/main" id="{8FADCFC3-5FDB-08B8-2456-58C07F9B1029}"/>
                </a:ext>
              </a:extLst>
            </p:cNvPr>
            <p:cNvSpPr/>
            <p:nvPr/>
          </p:nvSpPr>
          <p:spPr>
            <a:xfrm>
              <a:off x="466724" y="2028826"/>
              <a:ext cx="4210051" cy="3733800"/>
            </a:xfrm>
            <a:prstGeom prst="snip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222B86FF-4367-E4DD-5894-3521D20E2664}"/>
                </a:ext>
              </a:extLst>
            </p:cNvPr>
            <p:cNvSpPr txBox="1"/>
            <p:nvPr/>
          </p:nvSpPr>
          <p:spPr>
            <a:xfrm>
              <a:off x="542924" y="2962522"/>
              <a:ext cx="4210051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/>
                <a:t>Processo Standardizzato diviso in più fasi che comporta la riduzione delle dimensioni di un’immagine o file.</a:t>
              </a:r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A682C635-2CCC-683D-D206-AA854BD6CD81}"/>
                </a:ext>
              </a:extLst>
            </p:cNvPr>
            <p:cNvSpPr txBox="1"/>
            <p:nvPr/>
          </p:nvSpPr>
          <p:spPr>
            <a:xfrm>
              <a:off x="1819273" y="2087772"/>
              <a:ext cx="15049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600" dirty="0"/>
                <a:t>Cos’è</a:t>
              </a:r>
              <a:endParaRPr lang="it-IT" sz="2800" dirty="0"/>
            </a:p>
          </p:txBody>
        </p:sp>
      </p:grpSp>
      <p:pic>
        <p:nvPicPr>
          <p:cNvPr id="25" name="Elemento grafico 24" descr="Lente di ingrandimento con riempimento a tinta unita">
            <a:extLst>
              <a:ext uri="{FF2B5EF4-FFF2-40B4-BE49-F238E27FC236}">
                <a16:creationId xmlns:a16="http://schemas.microsoft.com/office/drawing/2014/main" id="{4C806F2B-B533-5CDD-2797-66B1D16D4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5195" y="2106016"/>
            <a:ext cx="595558" cy="595558"/>
          </a:xfrm>
          <a:prstGeom prst="rect">
            <a:avLst/>
          </a:prstGeom>
        </p:spPr>
      </p:pic>
      <p:grpSp>
        <p:nvGrpSpPr>
          <p:cNvPr id="26" name="Gruppo 25">
            <a:extLst>
              <a:ext uri="{FF2B5EF4-FFF2-40B4-BE49-F238E27FC236}">
                <a16:creationId xmlns:a16="http://schemas.microsoft.com/office/drawing/2014/main" id="{CC1260D6-5FA4-A1D4-A26D-2E3731666D57}"/>
              </a:ext>
            </a:extLst>
          </p:cNvPr>
          <p:cNvGrpSpPr/>
          <p:nvPr/>
        </p:nvGrpSpPr>
        <p:grpSpPr>
          <a:xfrm>
            <a:off x="6610349" y="2028826"/>
            <a:ext cx="4286251" cy="3733800"/>
            <a:chOff x="466724" y="2028826"/>
            <a:chExt cx="4286251" cy="37338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7" name="Rettangolo con un angolo in alto arrotondato e l'altro ritagliato 26">
              <a:extLst>
                <a:ext uri="{FF2B5EF4-FFF2-40B4-BE49-F238E27FC236}">
                  <a16:creationId xmlns:a16="http://schemas.microsoft.com/office/drawing/2014/main" id="{63BFF17E-0A66-55D8-AFC7-4BD979213B69}"/>
                </a:ext>
              </a:extLst>
            </p:cNvPr>
            <p:cNvSpPr/>
            <p:nvPr/>
          </p:nvSpPr>
          <p:spPr>
            <a:xfrm>
              <a:off x="466724" y="2028826"/>
              <a:ext cx="4210051" cy="3733800"/>
            </a:xfrm>
            <a:prstGeom prst="snip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33C9E20E-AEB8-4087-1CF6-D29574BA47F5}"/>
                </a:ext>
              </a:extLst>
            </p:cNvPr>
            <p:cNvSpPr txBox="1"/>
            <p:nvPr/>
          </p:nvSpPr>
          <p:spPr>
            <a:xfrm>
              <a:off x="542924" y="2962522"/>
              <a:ext cx="4210051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/>
                <a:t>La compressione è in grado di rimuovere i componenti ad alta frequenza introdotti dalle perturbazioni avversarie.</a:t>
              </a:r>
            </a:p>
          </p:txBody>
        </p: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46339A1E-BEC5-C966-19BF-028EF3892669}"/>
                </a:ext>
              </a:extLst>
            </p:cNvPr>
            <p:cNvSpPr txBox="1"/>
            <p:nvPr/>
          </p:nvSpPr>
          <p:spPr>
            <a:xfrm>
              <a:off x="1674017" y="2119048"/>
              <a:ext cx="179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3600" dirty="0"/>
                <a:t>Perché</a:t>
              </a:r>
              <a:endParaRPr lang="it-IT" sz="2800" dirty="0"/>
            </a:p>
          </p:txBody>
        </p:sp>
      </p:grpSp>
      <p:pic>
        <p:nvPicPr>
          <p:cNvPr id="32" name="Elemento grafico 31" descr="Singolo ingranaggio con riempimento a tinta unita">
            <a:extLst>
              <a:ext uri="{FF2B5EF4-FFF2-40B4-BE49-F238E27FC236}">
                <a16:creationId xmlns:a16="http://schemas.microsoft.com/office/drawing/2014/main" id="{0F16C084-9B31-26EA-7F01-4A0396EA17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8362" y="2032320"/>
            <a:ext cx="757237" cy="757237"/>
          </a:xfrm>
          <a:prstGeom prst="rect">
            <a:avLst/>
          </a:prstGeom>
        </p:spPr>
      </p:pic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9DA39930-9AF3-73D4-B987-2BAD47E8B3E0}"/>
              </a:ext>
            </a:extLst>
          </p:cNvPr>
          <p:cNvCxnSpPr>
            <a:cxnSpLocks/>
          </p:cNvCxnSpPr>
          <p:nvPr/>
        </p:nvCxnSpPr>
        <p:spPr>
          <a:xfrm flipV="1">
            <a:off x="6610349" y="2850647"/>
            <a:ext cx="4210051" cy="285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45D80B43-E32D-83BF-413C-7CE1681D4B06}"/>
              </a:ext>
            </a:extLst>
          </p:cNvPr>
          <p:cNvCxnSpPr>
            <a:cxnSpLocks/>
          </p:cNvCxnSpPr>
          <p:nvPr/>
        </p:nvCxnSpPr>
        <p:spPr>
          <a:xfrm flipV="1">
            <a:off x="1219199" y="2836106"/>
            <a:ext cx="4210051" cy="285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151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230C4A-8973-F977-3D23-024AD6FE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Fasi Compressione JPEG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3F3AD9-1819-D31F-7E72-917D298444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20400" y="6403975"/>
            <a:ext cx="1371600" cy="3651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6</a:t>
            </a:fld>
            <a:endParaRPr lang="it-IT" dirty="0"/>
          </a:p>
        </p:txBody>
      </p:sp>
      <p:sp>
        <p:nvSpPr>
          <p:cNvPr id="27" name="Freccia a gallone 26">
            <a:extLst>
              <a:ext uri="{FF2B5EF4-FFF2-40B4-BE49-F238E27FC236}">
                <a16:creationId xmlns:a16="http://schemas.microsoft.com/office/drawing/2014/main" id="{AC5F5390-5D5D-3FA7-868F-1B8D82B882E5}"/>
              </a:ext>
            </a:extLst>
          </p:cNvPr>
          <p:cNvSpPr/>
          <p:nvPr/>
        </p:nvSpPr>
        <p:spPr>
          <a:xfrm>
            <a:off x="3074682" y="3691175"/>
            <a:ext cx="419363" cy="523220"/>
          </a:xfrm>
          <a:prstGeom prst="chevron">
            <a:avLst>
              <a:gd name="adj" fmla="val 517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C626AE40-AF7A-6127-71E7-4181F76ED438}"/>
              </a:ext>
            </a:extLst>
          </p:cNvPr>
          <p:cNvGrpSpPr/>
          <p:nvPr/>
        </p:nvGrpSpPr>
        <p:grpSpPr>
          <a:xfrm>
            <a:off x="3499409" y="2343089"/>
            <a:ext cx="2571751" cy="2782409"/>
            <a:chOff x="4687485" y="2161108"/>
            <a:chExt cx="2571751" cy="2840980"/>
          </a:xfrm>
        </p:grpSpPr>
        <p:grpSp>
          <p:nvGrpSpPr>
            <p:cNvPr id="19" name="Gruppo 18">
              <a:extLst>
                <a:ext uri="{FF2B5EF4-FFF2-40B4-BE49-F238E27FC236}">
                  <a16:creationId xmlns:a16="http://schemas.microsoft.com/office/drawing/2014/main" id="{D9BAF63A-79CD-BD8D-2F3D-1A51CE1461A5}"/>
                </a:ext>
              </a:extLst>
            </p:cNvPr>
            <p:cNvGrpSpPr/>
            <p:nvPr/>
          </p:nvGrpSpPr>
          <p:grpSpPr>
            <a:xfrm>
              <a:off x="4687485" y="2161108"/>
              <a:ext cx="2571750" cy="2840980"/>
              <a:chOff x="600074" y="2152649"/>
              <a:chExt cx="2571750" cy="2840980"/>
            </a:xfrm>
          </p:grpSpPr>
          <p:sp>
            <p:nvSpPr>
              <p:cNvPr id="20" name="Rettangolo 19">
                <a:extLst>
                  <a:ext uri="{FF2B5EF4-FFF2-40B4-BE49-F238E27FC236}">
                    <a16:creationId xmlns:a16="http://schemas.microsoft.com/office/drawing/2014/main" id="{D83B7718-4C5E-21E8-D500-E94020289331}"/>
                  </a:ext>
                </a:extLst>
              </p:cNvPr>
              <p:cNvSpPr/>
              <p:nvPr/>
            </p:nvSpPr>
            <p:spPr>
              <a:xfrm>
                <a:off x="600074" y="2152650"/>
                <a:ext cx="2571750" cy="2840979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grpSp>
            <p:nvGrpSpPr>
              <p:cNvPr id="21" name="Gruppo 20">
                <a:extLst>
                  <a:ext uri="{FF2B5EF4-FFF2-40B4-BE49-F238E27FC236}">
                    <a16:creationId xmlns:a16="http://schemas.microsoft.com/office/drawing/2014/main" id="{228E3DAA-6AEB-F7D0-AEC1-729E36646606}"/>
                  </a:ext>
                </a:extLst>
              </p:cNvPr>
              <p:cNvGrpSpPr/>
              <p:nvPr/>
            </p:nvGrpSpPr>
            <p:grpSpPr>
              <a:xfrm>
                <a:off x="1520431" y="2152649"/>
                <a:ext cx="802941" cy="754350"/>
                <a:chOff x="1372795" y="2152651"/>
                <a:chExt cx="802941" cy="754350"/>
              </a:xfrm>
            </p:grpSpPr>
            <p:sp>
              <p:nvSpPr>
                <p:cNvPr id="25" name="Ovale 24">
                  <a:extLst>
                    <a:ext uri="{FF2B5EF4-FFF2-40B4-BE49-F238E27FC236}">
                      <a16:creationId xmlns:a16="http://schemas.microsoft.com/office/drawing/2014/main" id="{43A4055E-56E1-77C2-B26D-034FA89D9322}"/>
                    </a:ext>
                  </a:extLst>
                </p:cNvPr>
                <p:cNvSpPr/>
                <p:nvPr/>
              </p:nvSpPr>
              <p:spPr>
                <a:xfrm>
                  <a:off x="1372795" y="2152651"/>
                  <a:ext cx="802941" cy="754350"/>
                </a:xfrm>
                <a:prstGeom prst="ellipse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  <p:sp>
              <p:nvSpPr>
                <p:cNvPr id="26" name="CasellaDiTesto 25">
                  <a:extLst>
                    <a:ext uri="{FF2B5EF4-FFF2-40B4-BE49-F238E27FC236}">
                      <a16:creationId xmlns:a16="http://schemas.microsoft.com/office/drawing/2014/main" id="{124C8D0D-3422-68CB-6668-074B33E52DEF}"/>
                    </a:ext>
                  </a:extLst>
                </p:cNvPr>
                <p:cNvSpPr txBox="1"/>
                <p:nvPr/>
              </p:nvSpPr>
              <p:spPr>
                <a:xfrm>
                  <a:off x="1538949" y="2216798"/>
                  <a:ext cx="5334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3600" dirty="0"/>
                    <a:t>2</a:t>
                  </a:r>
                  <a:endParaRPr lang="it-IT" dirty="0"/>
                </a:p>
              </p:txBody>
            </p:sp>
          </p:grpSp>
        </p:grp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3CDD2E2A-DB43-EBB4-86E5-723914A67F88}"/>
                </a:ext>
              </a:extLst>
            </p:cNvPr>
            <p:cNvSpPr txBox="1"/>
            <p:nvPr/>
          </p:nvSpPr>
          <p:spPr>
            <a:xfrm>
              <a:off x="4706942" y="3394777"/>
              <a:ext cx="2552294" cy="534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800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DCT 8x8</a:t>
              </a:r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ED7CDB91-CB39-29DC-67C5-8ADD7C8FADF2}"/>
                </a:ext>
              </a:extLst>
            </p:cNvPr>
            <p:cNvSpPr txBox="1"/>
            <p:nvPr/>
          </p:nvSpPr>
          <p:spPr>
            <a:xfrm>
              <a:off x="4901200" y="4026017"/>
              <a:ext cx="214431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Dominio delle frequenze</a:t>
              </a:r>
            </a:p>
          </p:txBody>
        </p:sp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44E4D0E9-F526-2E43-CD9E-102F63A3F78D}"/>
              </a:ext>
            </a:extLst>
          </p:cNvPr>
          <p:cNvGrpSpPr/>
          <p:nvPr/>
        </p:nvGrpSpPr>
        <p:grpSpPr>
          <a:xfrm>
            <a:off x="209839" y="2326035"/>
            <a:ext cx="2826552" cy="2783381"/>
            <a:chOff x="266989" y="2519631"/>
            <a:chExt cx="2826552" cy="2783381"/>
          </a:xfrm>
        </p:grpSpPr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3DD06DD6-418D-8FE5-C613-25DDE5733B96}"/>
                </a:ext>
              </a:extLst>
            </p:cNvPr>
            <p:cNvSpPr/>
            <p:nvPr/>
          </p:nvSpPr>
          <p:spPr>
            <a:xfrm>
              <a:off x="266989" y="2519632"/>
              <a:ext cx="2826552" cy="2783380"/>
            </a:xfrm>
            <a:prstGeom prst="rect">
              <a:avLst/>
            </a:prstGeom>
            <a:ln>
              <a:solidFill>
                <a:schemeClr val="tx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grpSp>
          <p:nvGrpSpPr>
            <p:cNvPr id="16" name="Gruppo 15">
              <a:extLst>
                <a:ext uri="{FF2B5EF4-FFF2-40B4-BE49-F238E27FC236}">
                  <a16:creationId xmlns:a16="http://schemas.microsoft.com/office/drawing/2014/main" id="{912EDB8D-05B3-283F-9131-5DD3F49E671D}"/>
                </a:ext>
              </a:extLst>
            </p:cNvPr>
            <p:cNvGrpSpPr/>
            <p:nvPr/>
          </p:nvGrpSpPr>
          <p:grpSpPr>
            <a:xfrm>
              <a:off x="1276349" y="2519631"/>
              <a:ext cx="781051" cy="781909"/>
              <a:chOff x="1411624" y="2152651"/>
              <a:chExt cx="742226" cy="752712"/>
            </a:xfrm>
          </p:grpSpPr>
          <p:sp>
            <p:nvSpPr>
              <p:cNvPr id="11" name="Ovale 10">
                <a:extLst>
                  <a:ext uri="{FF2B5EF4-FFF2-40B4-BE49-F238E27FC236}">
                    <a16:creationId xmlns:a16="http://schemas.microsoft.com/office/drawing/2014/main" id="{1CE75EC5-70B6-1BB2-ED0A-DF687C99494C}"/>
                  </a:ext>
                </a:extLst>
              </p:cNvPr>
              <p:cNvSpPr/>
              <p:nvPr/>
            </p:nvSpPr>
            <p:spPr>
              <a:xfrm>
                <a:off x="1411624" y="2152651"/>
                <a:ext cx="742226" cy="752712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59F6F36E-C2F6-A74E-03A5-77C522053C4A}"/>
                  </a:ext>
                </a:extLst>
              </p:cNvPr>
              <p:cNvSpPr txBox="1"/>
              <p:nvPr/>
            </p:nvSpPr>
            <p:spPr>
              <a:xfrm>
                <a:off x="1547985" y="2217908"/>
                <a:ext cx="533400" cy="622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600" dirty="0"/>
                  <a:t>1</a:t>
                </a:r>
                <a:endParaRPr lang="it-IT" sz="1200" dirty="0"/>
              </a:p>
            </p:txBody>
          </p:sp>
        </p:grp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3DE2A821-6285-1358-DCAC-DDEF66A2EB15}"/>
                </a:ext>
              </a:extLst>
            </p:cNvPr>
            <p:cNvSpPr txBox="1"/>
            <p:nvPr/>
          </p:nvSpPr>
          <p:spPr>
            <a:xfrm>
              <a:off x="303887" y="3590758"/>
              <a:ext cx="11276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RGB</a:t>
              </a:r>
            </a:p>
          </p:txBody>
        </p:sp>
        <p:sp>
          <p:nvSpPr>
            <p:cNvPr id="15" name="Freccia a destra 14">
              <a:extLst>
                <a:ext uri="{FF2B5EF4-FFF2-40B4-BE49-F238E27FC236}">
                  <a16:creationId xmlns:a16="http://schemas.microsoft.com/office/drawing/2014/main" id="{7FFD402C-77BB-1962-363E-E438F9607C80}"/>
                </a:ext>
              </a:extLst>
            </p:cNvPr>
            <p:cNvSpPr/>
            <p:nvPr/>
          </p:nvSpPr>
          <p:spPr>
            <a:xfrm>
              <a:off x="1229160" y="3672706"/>
              <a:ext cx="501162" cy="375990"/>
            </a:xfrm>
            <a:prstGeom prst="rightArrow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61A753C2-9CA5-275E-332D-9F77E2ACC147}"/>
                </a:ext>
              </a:extLst>
            </p:cNvPr>
            <p:cNvSpPr txBox="1"/>
            <p:nvPr/>
          </p:nvSpPr>
          <p:spPr>
            <a:xfrm>
              <a:off x="1717165" y="3599576"/>
              <a:ext cx="13631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800" dirty="0" err="1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YCbCr</a:t>
              </a:r>
              <a:endParaRPr lang="it-IT" sz="2800" dirty="0">
                <a:solidFill>
                  <a:schemeClr val="bg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079D8DC9-F507-69D1-2701-0C387AE80C2A}"/>
                </a:ext>
              </a:extLst>
            </p:cNvPr>
            <p:cNvSpPr txBox="1"/>
            <p:nvPr/>
          </p:nvSpPr>
          <p:spPr>
            <a:xfrm>
              <a:off x="510431" y="4169441"/>
              <a:ext cx="225648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Conversione Cromatica dello Spazio</a:t>
              </a:r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F417B546-B9AD-2200-76CD-AF391231CD89}"/>
              </a:ext>
            </a:extLst>
          </p:cNvPr>
          <p:cNvGrpSpPr/>
          <p:nvPr/>
        </p:nvGrpSpPr>
        <p:grpSpPr>
          <a:xfrm>
            <a:off x="6416668" y="2327007"/>
            <a:ext cx="2760142" cy="2782409"/>
            <a:chOff x="4656827" y="2161109"/>
            <a:chExt cx="2760142" cy="2905125"/>
          </a:xfrm>
        </p:grpSpPr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5DE554E7-F967-E04C-338C-03164E4020B9}"/>
                </a:ext>
              </a:extLst>
            </p:cNvPr>
            <p:cNvGrpSpPr/>
            <p:nvPr/>
          </p:nvGrpSpPr>
          <p:grpSpPr>
            <a:xfrm>
              <a:off x="4687485" y="2161109"/>
              <a:ext cx="2571750" cy="2905125"/>
              <a:chOff x="600074" y="2152650"/>
              <a:chExt cx="2571750" cy="2905125"/>
            </a:xfrm>
          </p:grpSpPr>
          <p:sp>
            <p:nvSpPr>
              <p:cNvPr id="38" name="Rettangolo 37">
                <a:extLst>
                  <a:ext uri="{FF2B5EF4-FFF2-40B4-BE49-F238E27FC236}">
                    <a16:creationId xmlns:a16="http://schemas.microsoft.com/office/drawing/2014/main" id="{F1B7C961-5B2A-FAA4-0ED1-2B20ACF19EAB}"/>
                  </a:ext>
                </a:extLst>
              </p:cNvPr>
              <p:cNvSpPr/>
              <p:nvPr/>
            </p:nvSpPr>
            <p:spPr>
              <a:xfrm>
                <a:off x="600074" y="2152650"/>
                <a:ext cx="2571750" cy="2905125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grpSp>
            <p:nvGrpSpPr>
              <p:cNvPr id="39" name="Gruppo 38">
                <a:extLst>
                  <a:ext uri="{FF2B5EF4-FFF2-40B4-BE49-F238E27FC236}">
                    <a16:creationId xmlns:a16="http://schemas.microsoft.com/office/drawing/2014/main" id="{41754C40-F916-4B61-EC78-C615B340C491}"/>
                  </a:ext>
                </a:extLst>
              </p:cNvPr>
              <p:cNvGrpSpPr/>
              <p:nvPr/>
            </p:nvGrpSpPr>
            <p:grpSpPr>
              <a:xfrm>
                <a:off x="1429848" y="2169441"/>
                <a:ext cx="847725" cy="792696"/>
                <a:chOff x="1282212" y="2169443"/>
                <a:chExt cx="847725" cy="792696"/>
              </a:xfrm>
            </p:grpSpPr>
            <p:sp>
              <p:nvSpPr>
                <p:cNvPr id="40" name="Ovale 39">
                  <a:extLst>
                    <a:ext uri="{FF2B5EF4-FFF2-40B4-BE49-F238E27FC236}">
                      <a16:creationId xmlns:a16="http://schemas.microsoft.com/office/drawing/2014/main" id="{9C180825-F9FF-A42F-8C0D-B021107ABB1B}"/>
                    </a:ext>
                  </a:extLst>
                </p:cNvPr>
                <p:cNvSpPr/>
                <p:nvPr/>
              </p:nvSpPr>
              <p:spPr>
                <a:xfrm>
                  <a:off x="1282212" y="2169443"/>
                  <a:ext cx="847725" cy="792696"/>
                </a:xfrm>
                <a:prstGeom prst="ellipse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  <p:sp>
              <p:nvSpPr>
                <p:cNvPr id="41" name="CasellaDiTesto 40">
                  <a:extLst>
                    <a:ext uri="{FF2B5EF4-FFF2-40B4-BE49-F238E27FC236}">
                      <a16:creationId xmlns:a16="http://schemas.microsoft.com/office/drawing/2014/main" id="{386E3212-2B02-695A-6027-484BADDF8FA1}"/>
                    </a:ext>
                  </a:extLst>
                </p:cNvPr>
                <p:cNvSpPr txBox="1"/>
                <p:nvPr/>
              </p:nvSpPr>
              <p:spPr>
                <a:xfrm>
                  <a:off x="1501287" y="2260670"/>
                  <a:ext cx="56087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3600" dirty="0"/>
                    <a:t>3</a:t>
                  </a:r>
                  <a:endParaRPr lang="it-IT" dirty="0"/>
                </a:p>
              </p:txBody>
            </p:sp>
          </p:grpSp>
        </p:grpSp>
        <p:sp>
          <p:nvSpPr>
            <p:cNvPr id="36" name="CasellaDiTesto 35">
              <a:extLst>
                <a:ext uri="{FF2B5EF4-FFF2-40B4-BE49-F238E27FC236}">
                  <a16:creationId xmlns:a16="http://schemas.microsoft.com/office/drawing/2014/main" id="{65DA01F2-46DA-BF91-2891-00D8F5214650}"/>
                </a:ext>
              </a:extLst>
            </p:cNvPr>
            <p:cNvSpPr txBox="1"/>
            <p:nvPr/>
          </p:nvSpPr>
          <p:spPr>
            <a:xfrm>
              <a:off x="4656827" y="3343570"/>
              <a:ext cx="2760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400" dirty="0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Quantizzazione</a:t>
              </a:r>
              <a:endParaRPr lang="it-IT" sz="2800" dirty="0">
                <a:solidFill>
                  <a:schemeClr val="bg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37" name="CasellaDiTesto 36">
              <a:extLst>
                <a:ext uri="{FF2B5EF4-FFF2-40B4-BE49-F238E27FC236}">
                  <a16:creationId xmlns:a16="http://schemas.microsoft.com/office/drawing/2014/main" id="{0ABF5869-D64D-38FB-0BE9-E99EAF768CB8}"/>
                </a:ext>
              </a:extLst>
            </p:cNvPr>
            <p:cNvSpPr txBox="1"/>
            <p:nvPr/>
          </p:nvSpPr>
          <p:spPr>
            <a:xfrm>
              <a:off x="4895839" y="3837121"/>
              <a:ext cx="2144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Lossy</a:t>
              </a:r>
            </a:p>
            <a:p>
              <a:pPr algn="ctr"/>
              <a:r>
                <a:rPr lang="it-IT" sz="20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Rimuove Alte Frequenze </a:t>
              </a:r>
              <a:r>
                <a:rPr lang="en-US" sz="2000" dirty="0">
                  <a:solidFill>
                    <a:srgbClr val="8898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it-IT" sz="2000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1093F7FF-9BD2-1AAE-8444-EE8D16F0FEDA}"/>
              </a:ext>
            </a:extLst>
          </p:cNvPr>
          <p:cNvGrpSpPr/>
          <p:nvPr/>
        </p:nvGrpSpPr>
        <p:grpSpPr>
          <a:xfrm>
            <a:off x="9393628" y="2326035"/>
            <a:ext cx="2602408" cy="2840979"/>
            <a:chOff x="4656827" y="2161109"/>
            <a:chExt cx="2602408" cy="2905125"/>
          </a:xfrm>
        </p:grpSpPr>
        <p:grpSp>
          <p:nvGrpSpPr>
            <p:cNvPr id="47" name="Gruppo 46">
              <a:extLst>
                <a:ext uri="{FF2B5EF4-FFF2-40B4-BE49-F238E27FC236}">
                  <a16:creationId xmlns:a16="http://schemas.microsoft.com/office/drawing/2014/main" id="{C63417A8-3641-21B5-BEAC-FFB3CF9FEE9B}"/>
                </a:ext>
              </a:extLst>
            </p:cNvPr>
            <p:cNvGrpSpPr/>
            <p:nvPr/>
          </p:nvGrpSpPr>
          <p:grpSpPr>
            <a:xfrm>
              <a:off x="4687485" y="2161109"/>
              <a:ext cx="2571750" cy="2905125"/>
              <a:chOff x="600074" y="2152650"/>
              <a:chExt cx="2571750" cy="2905125"/>
            </a:xfrm>
          </p:grpSpPr>
          <p:sp>
            <p:nvSpPr>
              <p:cNvPr id="50" name="Rettangolo 49">
                <a:extLst>
                  <a:ext uri="{FF2B5EF4-FFF2-40B4-BE49-F238E27FC236}">
                    <a16:creationId xmlns:a16="http://schemas.microsoft.com/office/drawing/2014/main" id="{E9FC1D62-50BF-03E2-E70A-21CDC718181B}"/>
                  </a:ext>
                </a:extLst>
              </p:cNvPr>
              <p:cNvSpPr/>
              <p:nvPr/>
            </p:nvSpPr>
            <p:spPr>
              <a:xfrm>
                <a:off x="600074" y="2152650"/>
                <a:ext cx="2571750" cy="2905125"/>
              </a:xfrm>
              <a:prstGeom prst="rect">
                <a:avLst/>
              </a:prstGeom>
              <a:ln>
                <a:solidFill>
                  <a:schemeClr val="tx2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grpSp>
            <p:nvGrpSpPr>
              <p:cNvPr id="51" name="Gruppo 50">
                <a:extLst>
                  <a:ext uri="{FF2B5EF4-FFF2-40B4-BE49-F238E27FC236}">
                    <a16:creationId xmlns:a16="http://schemas.microsoft.com/office/drawing/2014/main" id="{21D1792C-A5DB-0717-44A8-2B1A3E9A697F}"/>
                  </a:ext>
                </a:extLst>
              </p:cNvPr>
              <p:cNvGrpSpPr/>
              <p:nvPr/>
            </p:nvGrpSpPr>
            <p:grpSpPr>
              <a:xfrm>
                <a:off x="1554457" y="2169441"/>
                <a:ext cx="655341" cy="771708"/>
                <a:chOff x="1406821" y="2169443"/>
                <a:chExt cx="655341" cy="771708"/>
              </a:xfrm>
            </p:grpSpPr>
            <p:sp>
              <p:nvSpPr>
                <p:cNvPr id="52" name="Ovale 51">
                  <a:extLst>
                    <a:ext uri="{FF2B5EF4-FFF2-40B4-BE49-F238E27FC236}">
                      <a16:creationId xmlns:a16="http://schemas.microsoft.com/office/drawing/2014/main" id="{5F7B03D6-4F66-709D-B563-344486250F8B}"/>
                    </a:ext>
                  </a:extLst>
                </p:cNvPr>
                <p:cNvSpPr/>
                <p:nvPr/>
              </p:nvSpPr>
              <p:spPr>
                <a:xfrm>
                  <a:off x="1406821" y="2169443"/>
                  <a:ext cx="655341" cy="771708"/>
                </a:xfrm>
                <a:prstGeom prst="ellipse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dirty="0"/>
                </a:p>
              </p:txBody>
            </p:sp>
            <p:sp>
              <p:nvSpPr>
                <p:cNvPr id="53" name="CasellaDiTesto 52">
                  <a:extLst>
                    <a:ext uri="{FF2B5EF4-FFF2-40B4-BE49-F238E27FC236}">
                      <a16:creationId xmlns:a16="http://schemas.microsoft.com/office/drawing/2014/main" id="{4B084E7E-47C8-F464-64F4-708D6C9B8848}"/>
                    </a:ext>
                  </a:extLst>
                </p:cNvPr>
                <p:cNvSpPr txBox="1"/>
                <p:nvPr/>
              </p:nvSpPr>
              <p:spPr>
                <a:xfrm>
                  <a:off x="1493107" y="2196524"/>
                  <a:ext cx="5334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t-IT" sz="3600" dirty="0"/>
                    <a:t>4</a:t>
                  </a:r>
                  <a:endParaRPr lang="it-IT" dirty="0"/>
                </a:p>
              </p:txBody>
            </p:sp>
          </p:grpSp>
        </p:grpSp>
        <p:sp>
          <p:nvSpPr>
            <p:cNvPr id="48" name="CasellaDiTesto 47">
              <a:extLst>
                <a:ext uri="{FF2B5EF4-FFF2-40B4-BE49-F238E27FC236}">
                  <a16:creationId xmlns:a16="http://schemas.microsoft.com/office/drawing/2014/main" id="{85AACAB5-435A-5B47-ED33-23399178A8D3}"/>
                </a:ext>
              </a:extLst>
            </p:cNvPr>
            <p:cNvSpPr txBox="1"/>
            <p:nvPr/>
          </p:nvSpPr>
          <p:spPr>
            <a:xfrm>
              <a:off x="4656827" y="3343570"/>
              <a:ext cx="2602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400" dirty="0" err="1">
                  <a:solidFill>
                    <a:schemeClr val="bg2">
                      <a:lumMod val="90000"/>
                      <a:lumOff val="10000"/>
                    </a:schemeClr>
                  </a:solidFill>
                </a:rPr>
                <a:t>Huffman</a:t>
              </a:r>
              <a:endParaRPr lang="it-IT" sz="2400" dirty="0">
                <a:solidFill>
                  <a:schemeClr val="bg2">
                    <a:lumMod val="90000"/>
                    <a:lumOff val="10000"/>
                  </a:schemeClr>
                </a:solidFill>
              </a:endParaRPr>
            </a:p>
          </p:txBody>
        </p:sp>
        <p:sp>
          <p:nvSpPr>
            <p:cNvPr id="49" name="CasellaDiTesto 48">
              <a:extLst>
                <a:ext uri="{FF2B5EF4-FFF2-40B4-BE49-F238E27FC236}">
                  <a16:creationId xmlns:a16="http://schemas.microsoft.com/office/drawing/2014/main" id="{DFABC11F-6D06-D9EE-2D55-1BD7A26095D6}"/>
                </a:ext>
              </a:extLst>
            </p:cNvPr>
            <p:cNvSpPr txBox="1"/>
            <p:nvPr/>
          </p:nvSpPr>
          <p:spPr>
            <a:xfrm>
              <a:off x="4895839" y="3837121"/>
              <a:ext cx="2144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Codifica Entropica Senza Perdita</a:t>
              </a:r>
            </a:p>
          </p:txBody>
        </p:sp>
      </p:grpSp>
      <p:sp>
        <p:nvSpPr>
          <p:cNvPr id="54" name="Freccia a gallone 53">
            <a:extLst>
              <a:ext uri="{FF2B5EF4-FFF2-40B4-BE49-F238E27FC236}">
                <a16:creationId xmlns:a16="http://schemas.microsoft.com/office/drawing/2014/main" id="{AADCF2C2-C443-A04B-1EED-AAFB6B8E973A}"/>
              </a:ext>
            </a:extLst>
          </p:cNvPr>
          <p:cNvSpPr/>
          <p:nvPr/>
        </p:nvSpPr>
        <p:spPr>
          <a:xfrm>
            <a:off x="6072774" y="3693399"/>
            <a:ext cx="451243" cy="523220"/>
          </a:xfrm>
          <a:prstGeom prst="chevron">
            <a:avLst>
              <a:gd name="adj" fmla="val 517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55" name="Freccia a gallone 54">
            <a:extLst>
              <a:ext uri="{FF2B5EF4-FFF2-40B4-BE49-F238E27FC236}">
                <a16:creationId xmlns:a16="http://schemas.microsoft.com/office/drawing/2014/main" id="{95A909A1-9F33-EF78-94DD-2F60B71CCBBB}"/>
              </a:ext>
            </a:extLst>
          </p:cNvPr>
          <p:cNvSpPr/>
          <p:nvPr/>
        </p:nvSpPr>
        <p:spPr>
          <a:xfrm>
            <a:off x="9070583" y="3735212"/>
            <a:ext cx="451243" cy="523220"/>
          </a:xfrm>
          <a:prstGeom prst="chevron">
            <a:avLst>
              <a:gd name="adj" fmla="val 5170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52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5057775" cy="543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it-IT" sz="4000" dirty="0"/>
              <a:t>Setup Sperimentale</a:t>
            </a:r>
            <a:endParaRPr sz="4000" dirty="0"/>
          </a:p>
        </p:txBody>
      </p:sp>
      <p:sp>
        <p:nvSpPr>
          <p:cNvPr id="151" name="Google Shape;151;p2"/>
          <p:cNvSpPr txBox="1">
            <a:spLocks noGrp="1"/>
          </p:cNvSpPr>
          <p:nvPr>
            <p:ph type="sldNum" idx="12"/>
          </p:nvPr>
        </p:nvSpPr>
        <p:spPr>
          <a:xfrm>
            <a:off x="10820400" y="6481125"/>
            <a:ext cx="1371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400"/>
              <a:t>7</a:t>
            </a:fld>
            <a:endParaRPr sz="1400"/>
          </a:p>
        </p:txBody>
      </p: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892BF60D-AE4A-450A-3C99-EFC130FEE9BE}"/>
              </a:ext>
            </a:extLst>
          </p:cNvPr>
          <p:cNvGrpSpPr/>
          <p:nvPr/>
        </p:nvGrpSpPr>
        <p:grpSpPr>
          <a:xfrm>
            <a:off x="925829" y="1327622"/>
            <a:ext cx="10494646" cy="4415953"/>
            <a:chOff x="838200" y="1690688"/>
            <a:chExt cx="8595360" cy="3481953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74DFB2C5-CE8A-AF14-7345-77865D4BEE27}"/>
                </a:ext>
              </a:extLst>
            </p:cNvPr>
            <p:cNvSpPr/>
            <p:nvPr/>
          </p:nvSpPr>
          <p:spPr>
            <a:xfrm>
              <a:off x="838200" y="1690688"/>
              <a:ext cx="2743200" cy="348195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ADCF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D49FDF99-D4DE-320C-317F-7F3EB4127514}"/>
                </a:ext>
              </a:extLst>
            </p:cNvPr>
            <p:cNvSpPr/>
            <p:nvPr/>
          </p:nvSpPr>
          <p:spPr>
            <a:xfrm>
              <a:off x="838200" y="1690688"/>
              <a:ext cx="2743200" cy="548640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9F710014-CADE-A93D-E01E-9C76BCC594EF}"/>
                </a:ext>
              </a:extLst>
            </p:cNvPr>
            <p:cNvSpPr/>
            <p:nvPr/>
          </p:nvSpPr>
          <p:spPr>
            <a:xfrm>
              <a:off x="838200" y="1690688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Modelli</a:t>
              </a:r>
              <a:endParaRPr lang="en-US" sz="1500" dirty="0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94BE09A8-65A2-C363-7999-5E30F38D9BF0}"/>
                </a:ext>
              </a:extLst>
            </p:cNvPr>
            <p:cNvSpPr/>
            <p:nvPr/>
          </p:nvSpPr>
          <p:spPr>
            <a:xfrm>
              <a:off x="975360" y="237648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ResNet-18</a:t>
              </a:r>
              <a:endParaRPr lang="en-US" sz="2800" dirty="0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0EB59104-D337-E31E-45BB-E44D4F3596AF}"/>
                </a:ext>
              </a:extLst>
            </p:cNvPr>
            <p:cNvSpPr/>
            <p:nvPr/>
          </p:nvSpPr>
          <p:spPr>
            <a:xfrm>
              <a:off x="975360" y="278796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8898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Skip connections, 18 layers</a:t>
              </a:r>
              <a:endParaRPr lang="en-US" sz="1800" dirty="0"/>
            </a:p>
          </p:txBody>
        </p:sp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F32176A3-11DE-3DCB-1B5F-3ED8C2923B0B}"/>
                </a:ext>
              </a:extLst>
            </p:cNvPr>
            <p:cNvSpPr/>
            <p:nvPr/>
          </p:nvSpPr>
          <p:spPr>
            <a:xfrm>
              <a:off x="975360" y="3336608"/>
              <a:ext cx="2468880" cy="18288"/>
            </a:xfrm>
            <a:prstGeom prst="rect">
              <a:avLst/>
            </a:prstGeom>
            <a:solidFill>
              <a:srgbClr val="CADCFC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5A27A15A-7C60-936C-573B-F258735C05A3}"/>
                </a:ext>
              </a:extLst>
            </p:cNvPr>
            <p:cNvSpPr/>
            <p:nvPr/>
          </p:nvSpPr>
          <p:spPr>
            <a:xfrm>
              <a:off x="975360" y="383952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EfficientNet-B0</a:t>
              </a:r>
              <a:endParaRPr lang="en-US" sz="2400" dirty="0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D63AF4ED-573F-CC16-0976-9B0993A4DD04}"/>
                </a:ext>
              </a:extLst>
            </p:cNvPr>
            <p:cNvSpPr/>
            <p:nvPr/>
          </p:nvSpPr>
          <p:spPr>
            <a:xfrm>
              <a:off x="975360" y="425100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8898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Compound scaling, SE blocks</a:t>
              </a:r>
              <a:endParaRPr lang="en-US" sz="1800" dirty="0"/>
            </a:p>
          </p:txBody>
        </p:sp>
        <p:sp>
          <p:nvSpPr>
            <p:cNvPr id="23" name="Shape 10">
              <a:extLst>
                <a:ext uri="{FF2B5EF4-FFF2-40B4-BE49-F238E27FC236}">
                  <a16:creationId xmlns:a16="http://schemas.microsoft.com/office/drawing/2014/main" id="{C6A531FA-5D71-1D37-BBA4-45ED31CC2180}"/>
                </a:ext>
              </a:extLst>
            </p:cNvPr>
            <p:cNvSpPr/>
            <p:nvPr/>
          </p:nvSpPr>
          <p:spPr>
            <a:xfrm>
              <a:off x="3764280" y="1690688"/>
              <a:ext cx="2743200" cy="348195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ADCF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7" name="Shape 11">
              <a:extLst>
                <a:ext uri="{FF2B5EF4-FFF2-40B4-BE49-F238E27FC236}">
                  <a16:creationId xmlns:a16="http://schemas.microsoft.com/office/drawing/2014/main" id="{A50AC4ED-B1FC-1D86-562C-E3F03C017D06}"/>
                </a:ext>
              </a:extLst>
            </p:cNvPr>
            <p:cNvSpPr/>
            <p:nvPr/>
          </p:nvSpPr>
          <p:spPr>
            <a:xfrm>
              <a:off x="3764280" y="1690688"/>
              <a:ext cx="2743200" cy="548640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 12">
              <a:extLst>
                <a:ext uri="{FF2B5EF4-FFF2-40B4-BE49-F238E27FC236}">
                  <a16:creationId xmlns:a16="http://schemas.microsoft.com/office/drawing/2014/main" id="{F593223A-1066-D792-4307-F40E2E3F0AC2}"/>
                </a:ext>
              </a:extLst>
            </p:cNvPr>
            <p:cNvSpPr/>
            <p:nvPr/>
          </p:nvSpPr>
          <p:spPr>
            <a:xfrm>
              <a:off x="3764280" y="1690688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</a:t>
              </a:r>
              <a:endParaRPr lang="en-US" sz="2800" dirty="0"/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44B627B2-5171-97BA-DC87-E898F5086F46}"/>
                </a:ext>
              </a:extLst>
            </p:cNvPr>
            <p:cNvSpPr/>
            <p:nvPr/>
          </p:nvSpPr>
          <p:spPr>
            <a:xfrm>
              <a:off x="3901440" y="237648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TinyImageNet</a:t>
              </a:r>
              <a:endParaRPr lang="en-US" sz="2800" dirty="0"/>
            </a:p>
          </p:txBody>
        </p:sp>
        <p:sp>
          <p:nvSpPr>
            <p:cNvPr id="30" name="Text 14">
              <a:extLst>
                <a:ext uri="{FF2B5EF4-FFF2-40B4-BE49-F238E27FC236}">
                  <a16:creationId xmlns:a16="http://schemas.microsoft.com/office/drawing/2014/main" id="{C5D790DC-27FE-589A-09EE-1102E43DAE17}"/>
                </a:ext>
              </a:extLst>
            </p:cNvPr>
            <p:cNvSpPr/>
            <p:nvPr/>
          </p:nvSpPr>
          <p:spPr>
            <a:xfrm>
              <a:off x="3901440" y="278796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8898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200 classes · 64×64 px</a:t>
              </a:r>
              <a:endParaRPr lang="en-US" sz="1800" dirty="0"/>
            </a:p>
          </p:txBody>
        </p:sp>
        <p:sp>
          <p:nvSpPr>
            <p:cNvPr id="31" name="Shape 15">
              <a:extLst>
                <a:ext uri="{FF2B5EF4-FFF2-40B4-BE49-F238E27FC236}">
                  <a16:creationId xmlns:a16="http://schemas.microsoft.com/office/drawing/2014/main" id="{0415EBBC-1701-E2B2-4D0D-E8A15DFA4486}"/>
                </a:ext>
              </a:extLst>
            </p:cNvPr>
            <p:cNvSpPr/>
            <p:nvPr/>
          </p:nvSpPr>
          <p:spPr>
            <a:xfrm>
              <a:off x="3901440" y="3336608"/>
              <a:ext cx="2468880" cy="18288"/>
            </a:xfrm>
            <a:prstGeom prst="rect">
              <a:avLst/>
            </a:prstGeom>
            <a:solidFill>
              <a:srgbClr val="CADCFC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Text 16">
              <a:extLst>
                <a:ext uri="{FF2B5EF4-FFF2-40B4-BE49-F238E27FC236}">
                  <a16:creationId xmlns:a16="http://schemas.microsoft.com/office/drawing/2014/main" id="{F24EF637-97C1-4A8E-0DB3-51DBC9D775B5}"/>
                </a:ext>
              </a:extLst>
            </p:cNvPr>
            <p:cNvSpPr/>
            <p:nvPr/>
          </p:nvSpPr>
          <p:spPr>
            <a:xfrm>
              <a:off x="3901440" y="3775559"/>
              <a:ext cx="2468880" cy="4754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100K immagini di Training</a:t>
              </a:r>
              <a:endParaRPr lang="en-US" sz="2400" dirty="0"/>
            </a:p>
          </p:txBody>
        </p:sp>
        <p:sp>
          <p:nvSpPr>
            <p:cNvPr id="33" name="Text 17">
              <a:extLst>
                <a:ext uri="{FF2B5EF4-FFF2-40B4-BE49-F238E27FC236}">
                  <a16:creationId xmlns:a16="http://schemas.microsoft.com/office/drawing/2014/main" id="{0FE4E3E1-C67E-776E-B3CF-EDD79FE7788C}"/>
                </a:ext>
              </a:extLst>
            </p:cNvPr>
            <p:cNvSpPr/>
            <p:nvPr/>
          </p:nvSpPr>
          <p:spPr>
            <a:xfrm>
              <a:off x="3901440" y="425100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8898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10K immagini di validazione</a:t>
              </a:r>
              <a:endParaRPr lang="en-US" sz="1800" dirty="0"/>
            </a:p>
          </p:txBody>
        </p:sp>
        <p:sp>
          <p:nvSpPr>
            <p:cNvPr id="34" name="Shape 18">
              <a:extLst>
                <a:ext uri="{FF2B5EF4-FFF2-40B4-BE49-F238E27FC236}">
                  <a16:creationId xmlns:a16="http://schemas.microsoft.com/office/drawing/2014/main" id="{D064D152-B36E-114B-24A9-28849EDF4998}"/>
                </a:ext>
              </a:extLst>
            </p:cNvPr>
            <p:cNvSpPr/>
            <p:nvPr/>
          </p:nvSpPr>
          <p:spPr>
            <a:xfrm>
              <a:off x="6690360" y="1690688"/>
              <a:ext cx="2743200" cy="348195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ADCF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35" name="Shape 19">
              <a:extLst>
                <a:ext uri="{FF2B5EF4-FFF2-40B4-BE49-F238E27FC236}">
                  <a16:creationId xmlns:a16="http://schemas.microsoft.com/office/drawing/2014/main" id="{0C126898-43C0-70D6-DD92-2EAC205474B4}"/>
                </a:ext>
              </a:extLst>
            </p:cNvPr>
            <p:cNvSpPr/>
            <p:nvPr/>
          </p:nvSpPr>
          <p:spPr>
            <a:xfrm>
              <a:off x="6690360" y="1690688"/>
              <a:ext cx="2743200" cy="548640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Text 20">
              <a:extLst>
                <a:ext uri="{FF2B5EF4-FFF2-40B4-BE49-F238E27FC236}">
                  <a16:creationId xmlns:a16="http://schemas.microsoft.com/office/drawing/2014/main" id="{D380DCD8-A95A-538E-9EC8-0544E1F3F616}"/>
                </a:ext>
              </a:extLst>
            </p:cNvPr>
            <p:cNvSpPr/>
            <p:nvPr/>
          </p:nvSpPr>
          <p:spPr>
            <a:xfrm>
              <a:off x="6690360" y="1690688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</a:t>
              </a:r>
              <a:endParaRPr lang="en-US" sz="2800" dirty="0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967C3BED-AF64-1F8F-A7A1-CF04AABDFB11}"/>
                </a:ext>
              </a:extLst>
            </p:cNvPr>
            <p:cNvSpPr/>
            <p:nvPr/>
          </p:nvSpPr>
          <p:spPr>
            <a:xfrm>
              <a:off x="6827519" y="2376488"/>
              <a:ext cx="2479661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ResNet-18: Partial Fine-Tuning</a:t>
              </a:r>
              <a:endParaRPr lang="en-US" sz="2400" dirty="0"/>
            </a:p>
          </p:txBody>
        </p:sp>
        <p:sp>
          <p:nvSpPr>
            <p:cNvPr id="43" name="Text 22">
              <a:extLst>
                <a:ext uri="{FF2B5EF4-FFF2-40B4-BE49-F238E27FC236}">
                  <a16:creationId xmlns:a16="http://schemas.microsoft.com/office/drawing/2014/main" id="{6A488B78-2AA1-1183-E00A-613A8A8CDEBD}"/>
                </a:ext>
              </a:extLst>
            </p:cNvPr>
            <p:cNvSpPr/>
            <p:nvPr/>
          </p:nvSpPr>
          <p:spPr>
            <a:xfrm>
              <a:off x="6827520" y="278796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8898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(Layer4 + testa classificatore)</a:t>
              </a:r>
              <a:endParaRPr lang="en-US" sz="1800" dirty="0"/>
            </a:p>
          </p:txBody>
        </p:sp>
        <p:sp>
          <p:nvSpPr>
            <p:cNvPr id="44" name="Shape 23">
              <a:extLst>
                <a:ext uri="{FF2B5EF4-FFF2-40B4-BE49-F238E27FC236}">
                  <a16:creationId xmlns:a16="http://schemas.microsoft.com/office/drawing/2014/main" id="{B91609D7-10C7-8784-790C-143CB654CC6F}"/>
                </a:ext>
              </a:extLst>
            </p:cNvPr>
            <p:cNvSpPr/>
            <p:nvPr/>
          </p:nvSpPr>
          <p:spPr>
            <a:xfrm>
              <a:off x="6827520" y="3336608"/>
              <a:ext cx="2468880" cy="18288"/>
            </a:xfrm>
            <a:prstGeom prst="rect">
              <a:avLst/>
            </a:prstGeom>
            <a:solidFill>
              <a:srgbClr val="CADCFC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Text 24">
              <a:extLst>
                <a:ext uri="{FF2B5EF4-FFF2-40B4-BE49-F238E27FC236}">
                  <a16:creationId xmlns:a16="http://schemas.microsoft.com/office/drawing/2014/main" id="{D6D45A66-CF31-321E-E403-AA38E1142B1E}"/>
                </a:ext>
              </a:extLst>
            </p:cNvPr>
            <p:cNvSpPr/>
            <p:nvPr/>
          </p:nvSpPr>
          <p:spPr>
            <a:xfrm>
              <a:off x="6827520" y="383952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EfficientNet-B0: Feature Extraction</a:t>
              </a:r>
              <a:endParaRPr lang="en-US" sz="2400" dirty="0"/>
            </a:p>
          </p:txBody>
        </p:sp>
        <p:sp>
          <p:nvSpPr>
            <p:cNvPr id="46" name="Text 25">
              <a:extLst>
                <a:ext uri="{FF2B5EF4-FFF2-40B4-BE49-F238E27FC236}">
                  <a16:creationId xmlns:a16="http://schemas.microsoft.com/office/drawing/2014/main" id="{BEFF8A5F-ABDE-3A8A-EB29-13A40C9555C0}"/>
                </a:ext>
              </a:extLst>
            </p:cNvPr>
            <p:cNvSpPr/>
            <p:nvPr/>
          </p:nvSpPr>
          <p:spPr>
            <a:xfrm>
              <a:off x="6827520" y="425100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8898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(sola testa classificatore)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6264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7772401" cy="6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it-IT" sz="4000" dirty="0"/>
              <a:t>Risultati Ottenuti (</a:t>
            </a:r>
            <a:r>
              <a:rPr lang="it-IT" sz="4000" dirty="0" err="1"/>
              <a:t>EfficientNET</a:t>
            </a:r>
            <a:r>
              <a:rPr lang="it-IT" sz="4000" dirty="0"/>
              <a:t>-BO)</a:t>
            </a:r>
            <a:endParaRPr sz="4000" dirty="0"/>
          </a:p>
        </p:txBody>
      </p:sp>
      <p:sp>
        <p:nvSpPr>
          <p:cNvPr id="151" name="Google Shape;151;p2"/>
          <p:cNvSpPr txBox="1">
            <a:spLocks noGrp="1"/>
          </p:cNvSpPr>
          <p:nvPr>
            <p:ph type="sldNum" idx="12"/>
          </p:nvPr>
        </p:nvSpPr>
        <p:spPr>
          <a:xfrm>
            <a:off x="10820400" y="6481125"/>
            <a:ext cx="1371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 sz="1400"/>
              <a:t>8</a:t>
            </a:fld>
            <a:endParaRPr sz="140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3C1F0ED-D84E-A47A-81E1-B4A029A1D045}"/>
              </a:ext>
            </a:extLst>
          </p:cNvPr>
          <p:cNvSpPr txBox="1">
            <a:spLocks/>
          </p:cNvSpPr>
          <p:nvPr/>
        </p:nvSpPr>
        <p:spPr>
          <a:xfrm>
            <a:off x="834390" y="1044806"/>
            <a:ext cx="6719316" cy="5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4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 ·  Clean Accuracy: 74.74%</a:t>
            </a:r>
            <a:endParaRPr lang="en-US" sz="28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59B1D20F-6F8A-799B-89D7-E10437600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233146"/>
              </p:ext>
            </p:extLst>
          </p:nvPr>
        </p:nvGraphicFramePr>
        <p:xfrm>
          <a:off x="600075" y="1705545"/>
          <a:ext cx="11216640" cy="18897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24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Q=10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Q=20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Q=25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Q=30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Q=40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Q=60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AutoAttack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57.7%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49.7%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43A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3">
            <a:extLst>
              <a:ext uri="{FF2B5EF4-FFF2-40B4-BE49-F238E27FC236}">
                <a16:creationId xmlns:a16="http://schemas.microsoft.com/office/drawing/2014/main" id="{87312C20-0F29-687A-EBA7-E1338FC362C8}"/>
              </a:ext>
            </a:extLst>
          </p:cNvPr>
          <p:cNvSpPr/>
          <p:nvPr/>
        </p:nvSpPr>
        <p:spPr>
          <a:xfrm>
            <a:off x="421005" y="3846046"/>
            <a:ext cx="3657600" cy="1783229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defTabSz="1219170">
              <a:buClrTx/>
            </a:pPr>
            <a:endParaRPr lang="it-IT" sz="2400" kern="120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1987E78A-25F4-FCDD-1B90-74EDD4D11EAE}"/>
              </a:ext>
            </a:extLst>
          </p:cNvPr>
          <p:cNvSpPr/>
          <p:nvPr/>
        </p:nvSpPr>
        <p:spPr>
          <a:xfrm>
            <a:off x="421005" y="3846046"/>
            <a:ext cx="3657600" cy="9753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pPr defTabSz="1219170">
              <a:buClrTx/>
            </a:pPr>
            <a:endParaRPr lang="it-IT" sz="2400" kern="120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6E3F01BD-7331-1600-4A1E-F583374F24CE}"/>
              </a:ext>
            </a:extLst>
          </p:cNvPr>
          <p:cNvSpPr/>
          <p:nvPr/>
        </p:nvSpPr>
        <p:spPr>
          <a:xfrm>
            <a:off x="567309" y="3967966"/>
            <a:ext cx="3389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buClrTx/>
            </a:pPr>
            <a:r>
              <a:rPr lang="it-IT" sz="2000" b="1" kern="120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ottimale: Q 20–25</a:t>
            </a:r>
            <a:endParaRPr lang="it-IT" sz="2000" kern="120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C05E51D9-1096-8962-0C65-8610FFAC61D4}"/>
              </a:ext>
            </a:extLst>
          </p:cNvPr>
          <p:cNvSpPr/>
          <p:nvPr/>
        </p:nvSpPr>
        <p:spPr>
          <a:xfrm>
            <a:off x="567309" y="4516606"/>
            <a:ext cx="3389376" cy="95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buClrTx/>
            </a:pPr>
            <a:r>
              <a:rPr lang="it-IT" sz="1800" kern="12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Massima capacità di rimozione del rumore avversario mantenendo una qualità visiva sufficiente.</a:t>
            </a: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19757C20-5588-E459-7EF5-AA893ADE8669}"/>
              </a:ext>
            </a:extLst>
          </p:cNvPr>
          <p:cNvSpPr/>
          <p:nvPr/>
        </p:nvSpPr>
        <p:spPr>
          <a:xfrm>
            <a:off x="4322445" y="3846045"/>
            <a:ext cx="3657600" cy="1783229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defTabSz="1219170">
              <a:buClrTx/>
            </a:pPr>
            <a:endParaRPr lang="it-IT" sz="2400" kern="120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8AC3913A-98CD-4E69-6AF8-67BB506BD3D5}"/>
              </a:ext>
            </a:extLst>
          </p:cNvPr>
          <p:cNvSpPr/>
          <p:nvPr/>
        </p:nvSpPr>
        <p:spPr>
          <a:xfrm>
            <a:off x="4322445" y="3846046"/>
            <a:ext cx="3657600" cy="975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pPr defTabSz="1219170">
              <a:buClrTx/>
            </a:pPr>
            <a:endParaRPr lang="it-IT" sz="2400" kern="120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0E7779A7-414A-08D6-BAB9-CD7B78DCEC71}"/>
              </a:ext>
            </a:extLst>
          </p:cNvPr>
          <p:cNvSpPr/>
          <p:nvPr/>
        </p:nvSpPr>
        <p:spPr>
          <a:xfrm>
            <a:off x="4468749" y="3967966"/>
            <a:ext cx="3389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buClrTx/>
            </a:pPr>
            <a:r>
              <a:rPr lang="it-IT" sz="2000" b="1" kern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BIM: Picco isolato a Q=20</a:t>
            </a:r>
            <a:endParaRPr lang="it-IT" sz="2000" kern="12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6907167-6029-694B-DED8-B3C1F4730A8A}"/>
              </a:ext>
            </a:extLst>
          </p:cNvPr>
          <p:cNvSpPr/>
          <p:nvPr/>
        </p:nvSpPr>
        <p:spPr>
          <a:xfrm>
            <a:off x="4452747" y="4516606"/>
            <a:ext cx="3511296" cy="95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buClrTx/>
            </a:pPr>
            <a:r>
              <a:rPr lang="it-IT" sz="1800" kern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 concentrato su una singola banda→ facilità di rimozione, ma decresce rapidamente</a:t>
            </a:r>
            <a:endParaRPr lang="it-IT" sz="1800" kern="12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5A214E93-CD24-4A5A-7C29-B8548B5BC44C}"/>
              </a:ext>
            </a:extLst>
          </p:cNvPr>
          <p:cNvSpPr/>
          <p:nvPr/>
        </p:nvSpPr>
        <p:spPr>
          <a:xfrm>
            <a:off x="8223885" y="3846046"/>
            <a:ext cx="3657600" cy="17832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defTabSz="1219170">
              <a:buClrTx/>
            </a:pPr>
            <a:endParaRPr lang="it-IT" sz="2400" kern="120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41D1EED-C076-D7C7-37AD-95A14A30EC47}"/>
              </a:ext>
            </a:extLst>
          </p:cNvPr>
          <p:cNvSpPr/>
          <p:nvPr/>
        </p:nvSpPr>
        <p:spPr>
          <a:xfrm>
            <a:off x="8223885" y="3846046"/>
            <a:ext cx="3657600" cy="97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defTabSz="1219170">
              <a:buClrTx/>
            </a:pPr>
            <a:endParaRPr lang="it-IT" sz="2400" kern="120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9494267C-BB5E-6586-22BC-2E07ACD29842}"/>
              </a:ext>
            </a:extLst>
          </p:cNvPr>
          <p:cNvSpPr/>
          <p:nvPr/>
        </p:nvSpPr>
        <p:spPr>
          <a:xfrm>
            <a:off x="8370189" y="3967966"/>
            <a:ext cx="3389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buClrTx/>
            </a:pPr>
            <a:r>
              <a:rPr lang="it-IT" sz="2000" b="1" kern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Parziale è cruciale</a:t>
            </a:r>
            <a:endParaRPr lang="it-IT" sz="2000" kern="12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AE52816D-C66D-D7D9-3DB3-FBC51D91DD11}"/>
              </a:ext>
            </a:extLst>
          </p:cNvPr>
          <p:cNvSpPr/>
          <p:nvPr/>
        </p:nvSpPr>
        <p:spPr>
          <a:xfrm>
            <a:off x="8370189" y="4516606"/>
            <a:ext cx="3446526" cy="950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buClrTx/>
            </a:pPr>
            <a:r>
              <a:rPr lang="it-IT" sz="1800" kern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totale causa </a:t>
            </a:r>
            <a:r>
              <a:rPr lang="it-IT" sz="1800" kern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r>
              <a:rPr lang="it-IT" sz="1800" kern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sulle alte frequenze, peggiorando la recovery post-JPEG</a:t>
            </a:r>
            <a:endParaRPr lang="it-IT" sz="1800" kern="1200" dirty="0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7D1D305-7465-F57D-BD0D-B9611DC599F5}"/>
              </a:ext>
            </a:extLst>
          </p:cNvPr>
          <p:cNvSpPr/>
          <p:nvPr/>
        </p:nvSpPr>
        <p:spPr>
          <a:xfrm>
            <a:off x="600074" y="5880015"/>
            <a:ext cx="9217257" cy="4350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8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Attacchi  testati: PGD · BIM · </a:t>
            </a:r>
            <a:r>
              <a:rPr lang="it-IT" sz="1800" i="1" dirty="0" err="1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AutoAttack</a:t>
            </a:r>
            <a:r>
              <a:rPr lang="it-IT" sz="18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ε = 8/255 and ε = 4/255  |  JPEG Quality: Q ∈ [10, 60]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2574511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74CA14-7F8B-FA03-4C0B-C8DFA271A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EfficientNET-B0 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it-IT" dirty="0"/>
              <a:t>Curve di Recovery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E66B05-394E-1D80-E35B-09AFB55760F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20400" y="6294199"/>
            <a:ext cx="1371600" cy="3651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9</a:t>
            </a:fld>
            <a:endParaRPr lang="it-IT"/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009733C1-6B91-9D80-3F6A-CF99DE046F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1674457"/>
              </p:ext>
            </p:extLst>
          </p:nvPr>
        </p:nvGraphicFramePr>
        <p:xfrm>
          <a:off x="1070610" y="1762125"/>
          <a:ext cx="8013954" cy="4897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F31BACE4-9E0A-E117-1046-75E001C29FFC}"/>
              </a:ext>
            </a:extLst>
          </p:cNvPr>
          <p:cNvSpPr/>
          <p:nvPr/>
        </p:nvSpPr>
        <p:spPr>
          <a:xfrm>
            <a:off x="8720328" y="1602789"/>
            <a:ext cx="3082290" cy="1481709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buClrTx/>
              <a:buFontTx/>
              <a:buNone/>
            </a:pP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5E8987F-7BCE-2023-0BDB-71DE9140F0A2}"/>
              </a:ext>
            </a:extLst>
          </p:cNvPr>
          <p:cNvSpPr/>
          <p:nvPr/>
        </p:nvSpPr>
        <p:spPr>
          <a:xfrm>
            <a:off x="8720328" y="1602790"/>
            <a:ext cx="3082290" cy="8789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92BF378-8874-D952-B6FA-968514FA9824}"/>
              </a:ext>
            </a:extLst>
          </p:cNvPr>
          <p:cNvSpPr/>
          <p:nvPr/>
        </p:nvSpPr>
        <p:spPr>
          <a:xfrm>
            <a:off x="8811767" y="1694229"/>
            <a:ext cx="2835707" cy="401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it-IT" b="1" kern="1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 @  Q=20</a:t>
            </a:r>
            <a:endParaRPr lang="it-IT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8D355A6-821B-8670-194E-E3BDF7CB9D47}"/>
              </a:ext>
            </a:extLst>
          </p:cNvPr>
          <p:cNvSpPr/>
          <p:nvPr/>
        </p:nvSpPr>
        <p:spPr>
          <a:xfrm>
            <a:off x="8811767" y="1950262"/>
            <a:ext cx="2835707" cy="376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it-IT" sz="1800" b="1" kern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64.0%</a:t>
            </a: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3CEBECF-717D-B2CE-5FB9-46816A3411F2}"/>
              </a:ext>
            </a:extLst>
          </p:cNvPr>
          <p:cNvSpPr/>
          <p:nvPr/>
        </p:nvSpPr>
        <p:spPr>
          <a:xfrm>
            <a:off x="8822432" y="2274541"/>
            <a:ext cx="2608863" cy="681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it-IT" kern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Singolo massimo punto di recovery — picco isolato causato dalla concentrazione spaziale</a:t>
            </a:r>
            <a:endParaRPr lang="it-IT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49E571C-58CB-96BC-D65B-2D60CC572520}"/>
              </a:ext>
            </a:extLst>
          </p:cNvPr>
          <p:cNvSpPr/>
          <p:nvPr/>
        </p:nvSpPr>
        <p:spPr>
          <a:xfrm>
            <a:off x="8720328" y="3048499"/>
            <a:ext cx="3082290" cy="1481709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buClrTx/>
              <a:buFontTx/>
              <a:buNone/>
            </a:pP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9A8E0C8-DBC6-0631-BE17-2243147375C6}"/>
              </a:ext>
            </a:extLst>
          </p:cNvPr>
          <p:cNvSpPr/>
          <p:nvPr/>
        </p:nvSpPr>
        <p:spPr>
          <a:xfrm>
            <a:off x="8720328" y="3048500"/>
            <a:ext cx="3082290" cy="8789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FDD202E-E519-D167-097E-F37ED8112CF7}"/>
              </a:ext>
            </a:extLst>
          </p:cNvPr>
          <p:cNvSpPr/>
          <p:nvPr/>
        </p:nvSpPr>
        <p:spPr>
          <a:xfrm>
            <a:off x="8811767" y="3139939"/>
            <a:ext cx="2835707" cy="401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it-IT" b="1" kern="1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AutoAttack</a:t>
            </a:r>
            <a:r>
              <a:rPr lang="it-IT" b="1" kern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PGD  @  Q=20–25</a:t>
            </a:r>
            <a:endParaRPr lang="it-IT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027475B-EDAB-62A4-2189-17DAFC865286}"/>
              </a:ext>
            </a:extLst>
          </p:cNvPr>
          <p:cNvSpPr/>
          <p:nvPr/>
        </p:nvSpPr>
        <p:spPr>
          <a:xfrm>
            <a:off x="8811767" y="3395972"/>
            <a:ext cx="2835707" cy="376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it-IT" sz="1800" b="1" kern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~57%</a:t>
            </a: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3FF843E-A380-0970-B8C1-5DE774CB3481}"/>
              </a:ext>
            </a:extLst>
          </p:cNvPr>
          <p:cNvSpPr/>
          <p:nvPr/>
        </p:nvSpPr>
        <p:spPr>
          <a:xfrm>
            <a:off x="8811767" y="3661148"/>
            <a:ext cx="2835707" cy="52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it-IT" kern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esteso — finestra stabile e ottimale per entrambi gli attacchi</a:t>
            </a:r>
            <a:endParaRPr lang="it-IT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B403989-2C1A-C479-8C62-3A97206CC3EB}"/>
              </a:ext>
            </a:extLst>
          </p:cNvPr>
          <p:cNvSpPr/>
          <p:nvPr/>
        </p:nvSpPr>
        <p:spPr>
          <a:xfrm>
            <a:off x="8720328" y="4224436"/>
            <a:ext cx="3082290" cy="1407379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buClrTx/>
              <a:buFontTx/>
              <a:buNone/>
            </a:pP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A9FAB6D-7E67-DC64-7C85-C56297D5CC2F}"/>
              </a:ext>
            </a:extLst>
          </p:cNvPr>
          <p:cNvSpPr/>
          <p:nvPr/>
        </p:nvSpPr>
        <p:spPr>
          <a:xfrm>
            <a:off x="8720328" y="4224437"/>
            <a:ext cx="3082290" cy="83489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F2D104B-CFA3-191A-3848-7EACAFA7D7B3}"/>
              </a:ext>
            </a:extLst>
          </p:cNvPr>
          <p:cNvSpPr/>
          <p:nvPr/>
        </p:nvSpPr>
        <p:spPr>
          <a:xfrm>
            <a:off x="8811767" y="4315877"/>
            <a:ext cx="2835707" cy="381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it-IT" b="1" kern="12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 @  Q=60</a:t>
            </a:r>
            <a:endParaRPr lang="it-IT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5CC7818-38AD-3F38-46A4-66B0B3631425}"/>
              </a:ext>
            </a:extLst>
          </p:cNvPr>
          <p:cNvSpPr/>
          <p:nvPr/>
        </p:nvSpPr>
        <p:spPr>
          <a:xfrm>
            <a:off x="8811767" y="4571909"/>
            <a:ext cx="2835707" cy="357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it-IT" sz="1800" b="1" kern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22.1%</a:t>
            </a: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297A1CD-D5E4-F2ED-015E-396595100621}"/>
              </a:ext>
            </a:extLst>
          </p:cNvPr>
          <p:cNvSpPr/>
          <p:nvPr/>
        </p:nvSpPr>
        <p:spPr>
          <a:xfrm>
            <a:off x="8811766" y="4959267"/>
            <a:ext cx="2835707" cy="500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Tx/>
              <a:buFontTx/>
              <a:buNone/>
            </a:pPr>
            <a:r>
              <a:rPr lang="it-IT" kern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Decaduta più rapida — rumore al di fuori del range di rimozione rimane intatto</a:t>
            </a:r>
            <a:endParaRPr lang="it-IT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B5F3467C-4B2B-F6CE-586D-29B8FD26CD63}"/>
              </a:ext>
            </a:extLst>
          </p:cNvPr>
          <p:cNvSpPr/>
          <p:nvPr/>
        </p:nvSpPr>
        <p:spPr>
          <a:xfrm>
            <a:off x="1070610" y="1433816"/>
            <a:ext cx="61683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6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 di Compressione JPEG (Q) vs. </a:t>
            </a:r>
            <a:r>
              <a:rPr lang="it-IT" sz="1600" i="1" dirty="0" err="1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it-IT" sz="16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Recuperata  ·  ε = 8/255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3784011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ABF7CA-837B-A997-AB14-D75ECEB1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12984"/>
            <a:ext cx="7772401" cy="814172"/>
          </a:xfrm>
        </p:spPr>
        <p:txBody>
          <a:bodyPr>
            <a:normAutofit/>
          </a:bodyPr>
          <a:lstStyle/>
          <a:p>
            <a:r>
              <a:rPr lang="it-IT" sz="3600" dirty="0"/>
              <a:t>Risultati Ottenuti (ResNET-18)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9F25CC2-DAB2-9ACC-9C67-A9E0CEFFAB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20400" y="6365875"/>
            <a:ext cx="1371600" cy="3651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10</a:t>
            </a:fld>
            <a:endParaRPr lang="it-IT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66BAE19-1721-7C42-27CD-6690A098566E}"/>
              </a:ext>
            </a:extLst>
          </p:cNvPr>
          <p:cNvSpPr/>
          <p:nvPr/>
        </p:nvSpPr>
        <p:spPr>
          <a:xfrm>
            <a:off x="886936" y="1122415"/>
            <a:ext cx="8902129" cy="400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 ·  Partial Fine-Tuning  ·  Clean Accuracy: 63.88%</a:t>
            </a:r>
            <a:endParaRPr lang="en-US" sz="2700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FF73CE39-BA32-FAA7-9D66-84EAE4925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36" y="1615744"/>
            <a:ext cx="10691618" cy="2834017"/>
          </a:xfrm>
          <a:prstGeom prst="rect">
            <a:avLst/>
          </a:prstGeom>
        </p:spPr>
      </p:pic>
      <p:sp>
        <p:nvSpPr>
          <p:cNvPr id="29" name="Shape 5">
            <a:extLst>
              <a:ext uri="{FF2B5EF4-FFF2-40B4-BE49-F238E27FC236}">
                <a16:creationId xmlns:a16="http://schemas.microsoft.com/office/drawing/2014/main" id="{B41B2685-102F-D12E-8B44-DC131B14FB76}"/>
              </a:ext>
            </a:extLst>
          </p:cNvPr>
          <p:cNvSpPr/>
          <p:nvPr/>
        </p:nvSpPr>
        <p:spPr>
          <a:xfrm>
            <a:off x="728471" y="4541202"/>
            <a:ext cx="3338704" cy="191211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buClrTx/>
              <a:buFontTx/>
              <a:buNone/>
            </a:pP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F088EE76-8631-2BAA-705D-1A87BAB8F8E5}"/>
              </a:ext>
            </a:extLst>
          </p:cNvPr>
          <p:cNvSpPr/>
          <p:nvPr/>
        </p:nvSpPr>
        <p:spPr>
          <a:xfrm>
            <a:off x="728471" y="4541202"/>
            <a:ext cx="3338704" cy="8262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it-IT" sz="1800" kern="120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A0ADC176-6661-D37F-F96E-449CD1CC9C63}"/>
              </a:ext>
            </a:extLst>
          </p:cNvPr>
          <p:cNvSpPr/>
          <p:nvPr/>
        </p:nvSpPr>
        <p:spPr>
          <a:xfrm>
            <a:off x="838199" y="4623498"/>
            <a:ext cx="3247036" cy="448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it-IT" sz="2000" b="1" kern="1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ε=8: BIM crolla rapidamente</a:t>
            </a:r>
            <a:endParaRPr lang="it-IT" sz="20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B6FF91C0-58C3-3722-384B-40C0B2F63D1D}"/>
              </a:ext>
            </a:extLst>
          </p:cNvPr>
          <p:cNvSpPr/>
          <p:nvPr/>
        </p:nvSpPr>
        <p:spPr>
          <a:xfrm>
            <a:off x="838199" y="4970969"/>
            <a:ext cx="3093866" cy="13079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ClrTx/>
              <a:buFontTx/>
              <a:buNone/>
            </a:pPr>
            <a:r>
              <a:rPr lang="it-IT" sz="1600" kern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raggiunge il picco a Q=30 (39.1%) per poi scendere al 23.9% a Q=60 — mantiene lo stesso comportamento di </a:t>
            </a:r>
            <a:r>
              <a:rPr lang="it-IT" sz="1600" kern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r>
              <a:rPr lang="it-IT" sz="1600" kern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conservando il picco isolato</a:t>
            </a:r>
            <a:endParaRPr lang="it-IT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A36E091F-06D0-1437-1AE6-265AC8DD1CEF}"/>
              </a:ext>
            </a:extLst>
          </p:cNvPr>
          <p:cNvSpPr/>
          <p:nvPr/>
        </p:nvSpPr>
        <p:spPr>
          <a:xfrm>
            <a:off x="4276915" y="4551169"/>
            <a:ext cx="3247036" cy="1814706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AC68EF57-C06B-2C26-AEDF-4699716C6E5F}"/>
              </a:ext>
            </a:extLst>
          </p:cNvPr>
          <p:cNvSpPr/>
          <p:nvPr/>
        </p:nvSpPr>
        <p:spPr>
          <a:xfrm>
            <a:off x="4276915" y="4551169"/>
            <a:ext cx="3247036" cy="60747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63BADD12-EF40-766D-DB29-C9A656C82557}"/>
              </a:ext>
            </a:extLst>
          </p:cNvPr>
          <p:cNvSpPr/>
          <p:nvPr/>
        </p:nvSpPr>
        <p:spPr>
          <a:xfrm>
            <a:off x="4386643" y="4633465"/>
            <a:ext cx="3008920" cy="329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ε=4: AA jumps at Q=21+</a:t>
            </a:r>
            <a:endParaRPr lang="it-IT" sz="180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155419B9-3EE1-168F-BD53-66C6F3D13A17}"/>
              </a:ext>
            </a:extLst>
          </p:cNvPr>
          <p:cNvSpPr/>
          <p:nvPr/>
        </p:nvSpPr>
        <p:spPr>
          <a:xfrm>
            <a:off x="4276915" y="5072376"/>
            <a:ext cx="3247036" cy="911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6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AutoAttack</a:t>
            </a:r>
            <a:r>
              <a:rPr lang="it-IT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ε=4 passa da 35.8% al 52.5% tra Q=20 and Q=22 — deboli  perturbazioni rimosse da una più leggera compressione</a:t>
            </a:r>
            <a:endParaRPr lang="it-IT" sz="1600" dirty="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F19A4C0A-FFC1-19B8-7498-CFDE8EB9A0D3}"/>
              </a:ext>
            </a:extLst>
          </p:cNvPr>
          <p:cNvSpPr/>
          <p:nvPr/>
        </p:nvSpPr>
        <p:spPr>
          <a:xfrm>
            <a:off x="7677531" y="4560873"/>
            <a:ext cx="3590544" cy="14493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F2839C26-EE5E-9897-85E7-9BFD06B55342}"/>
              </a:ext>
            </a:extLst>
          </p:cNvPr>
          <p:cNvSpPr/>
          <p:nvPr/>
        </p:nvSpPr>
        <p:spPr>
          <a:xfrm>
            <a:off x="7677531" y="4560873"/>
            <a:ext cx="3590544" cy="62625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CAD07238-C21F-706C-7888-E1BB3812599B}"/>
              </a:ext>
            </a:extLst>
          </p:cNvPr>
          <p:cNvSpPr/>
          <p:nvPr/>
        </p:nvSpPr>
        <p:spPr>
          <a:xfrm>
            <a:off x="7787258" y="4643169"/>
            <a:ext cx="3327237" cy="3399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ε=8 consistentemente basso</a:t>
            </a:r>
            <a:endParaRPr lang="it-IT" sz="180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D25B6AC8-D4BA-C931-5AE9-DF28ACBDA234}"/>
              </a:ext>
            </a:extLst>
          </p:cNvPr>
          <p:cNvSpPr/>
          <p:nvPr/>
        </p:nvSpPr>
        <p:spPr>
          <a:xfrm>
            <a:off x="7787258" y="4990641"/>
            <a:ext cx="3327237" cy="939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it-IT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eccede mai il 41.1% — l’attacco più potente, difficile da neutralizzare. Gap tra PGD/BIM rivela i limiti di selettività delle frequenze di JPEG.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4063816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91E79E-FA1A-7A3F-CAE4-4DB7E725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ResNET-18</a:t>
            </a:r>
            <a:r>
              <a:rPr lang="it-IT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it-IT" dirty="0"/>
              <a:t>Curve di Recovery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F247952-D416-337A-456E-C740213B53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53450" y="6375400"/>
            <a:ext cx="1371600" cy="3651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11</a:t>
            </a:fld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F888763-D9B5-D1C6-0114-510934128C01}"/>
              </a:ext>
            </a:extLst>
          </p:cNvPr>
          <p:cNvSpPr txBox="1"/>
          <p:nvPr/>
        </p:nvSpPr>
        <p:spPr>
          <a:xfrm>
            <a:off x="838200" y="1412383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1" u="none" strike="noStrike" kern="1200" cap="none" spc="0" normalizeH="0" baseline="0" dirty="0">
                <a:ln>
                  <a:noFill/>
                </a:ln>
                <a:solidFill>
                  <a:srgbClr val="8898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Qualità di Compressione JPEG(Q) vs. </a:t>
            </a:r>
            <a:r>
              <a:rPr kumimoji="0" lang="it-IT" sz="1600" b="0" i="1" u="none" strike="noStrike" kern="1200" cap="none" spc="0" normalizeH="0" baseline="0" dirty="0" err="1">
                <a:ln>
                  <a:noFill/>
                </a:ln>
                <a:solidFill>
                  <a:srgbClr val="8898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kumimoji="0" lang="it-IT" sz="1600" b="0" i="1" u="none" strike="noStrike" kern="1200" cap="none" spc="0" normalizeH="0" baseline="0" dirty="0">
                <a:ln>
                  <a:noFill/>
                </a:ln>
                <a:solidFill>
                  <a:srgbClr val="8898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Recuperata ·  ε = 8/255  · Fine-Tuning Parziale</a:t>
            </a:r>
            <a:endParaRPr kumimoji="0" lang="it-IT" sz="16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8A9873FD-1E7D-F5AB-B625-386093C8F0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5285036"/>
              </p:ext>
            </p:extLst>
          </p:nvPr>
        </p:nvGraphicFramePr>
        <p:xfrm>
          <a:off x="666751" y="1802380"/>
          <a:ext cx="8048624" cy="4573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hape 3">
            <a:extLst>
              <a:ext uri="{FF2B5EF4-FFF2-40B4-BE49-F238E27FC236}">
                <a16:creationId xmlns:a16="http://schemas.microsoft.com/office/drawing/2014/main" id="{23CEDCFF-CD15-E5C2-16C2-F019F1FDEF06}"/>
              </a:ext>
            </a:extLst>
          </p:cNvPr>
          <p:cNvSpPr/>
          <p:nvPr/>
        </p:nvSpPr>
        <p:spPr>
          <a:xfrm>
            <a:off x="9403080" y="3147091"/>
            <a:ext cx="2286000" cy="1398312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F6D596B-5E0C-3FA3-0B8D-0001C5112E4B}"/>
              </a:ext>
            </a:extLst>
          </p:cNvPr>
          <p:cNvSpPr/>
          <p:nvPr/>
        </p:nvSpPr>
        <p:spPr>
          <a:xfrm>
            <a:off x="9403080" y="3147091"/>
            <a:ext cx="2286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17452A3-D5C5-9D59-AAA2-C5FF3C906245}"/>
              </a:ext>
            </a:extLst>
          </p:cNvPr>
          <p:cNvSpPr/>
          <p:nvPr/>
        </p:nvSpPr>
        <p:spPr>
          <a:xfrm>
            <a:off x="9494520" y="323853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  @  Q=35–37</a:t>
            </a:r>
            <a:endParaRPr lang="it-IT" sz="1100">
              <a:solidFill>
                <a:srgbClr val="4FC3F7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D665271-2985-61D6-8A23-0F3DB197FCE2}"/>
              </a:ext>
            </a:extLst>
          </p:cNvPr>
          <p:cNvSpPr/>
          <p:nvPr/>
        </p:nvSpPr>
        <p:spPr>
          <a:xfrm>
            <a:off x="9494520" y="349456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41.6%</a:t>
            </a:r>
            <a:endParaRPr lang="it-IT" sz="18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4EF3DDC-D40B-B01E-22B5-BF0420031E43}"/>
              </a:ext>
            </a:extLst>
          </p:cNvPr>
          <p:cNvSpPr/>
          <p:nvPr/>
        </p:nvSpPr>
        <p:spPr>
          <a:xfrm>
            <a:off x="9494519" y="3795266"/>
            <a:ext cx="2154555" cy="75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maggiormente esteso — il rumore basato su gradiente si distribuisce equamente nello spettro delle frequenze</a:t>
            </a:r>
          </a:p>
          <a:p>
            <a:pPr marL="0" indent="0">
              <a:buNone/>
            </a:pPr>
            <a:endParaRPr lang="it-IT" sz="9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A4FB226-8431-6E9B-4B0F-F123F13D4676}"/>
              </a:ext>
            </a:extLst>
          </p:cNvPr>
          <p:cNvSpPr/>
          <p:nvPr/>
        </p:nvSpPr>
        <p:spPr>
          <a:xfrm>
            <a:off x="9403080" y="1718130"/>
            <a:ext cx="2286000" cy="1433533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4169536-A132-257B-2A1F-41AB91F7C343}"/>
              </a:ext>
            </a:extLst>
          </p:cNvPr>
          <p:cNvSpPr/>
          <p:nvPr/>
        </p:nvSpPr>
        <p:spPr>
          <a:xfrm>
            <a:off x="9403080" y="1718933"/>
            <a:ext cx="228600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FA73295-A459-53C1-B5F0-229DC078CFD1}"/>
              </a:ext>
            </a:extLst>
          </p:cNvPr>
          <p:cNvSpPr/>
          <p:nvPr/>
        </p:nvSpPr>
        <p:spPr>
          <a:xfrm>
            <a:off x="9494520" y="1810373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 @  Q=30</a:t>
            </a:r>
            <a:endParaRPr lang="it-IT" dirty="0">
              <a:solidFill>
                <a:srgbClr val="43A047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7A2675D-277D-7AA8-8945-778D64DA504A}"/>
              </a:ext>
            </a:extLst>
          </p:cNvPr>
          <p:cNvSpPr/>
          <p:nvPr/>
        </p:nvSpPr>
        <p:spPr>
          <a:xfrm>
            <a:off x="9494520" y="2066405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39.1%</a:t>
            </a:r>
            <a:endParaRPr lang="it-IT" sz="18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745DFD5-5DA2-32B6-C107-5EC95E08BA97}"/>
              </a:ext>
            </a:extLst>
          </p:cNvPr>
          <p:cNvSpPr/>
          <p:nvPr/>
        </p:nvSpPr>
        <p:spPr>
          <a:xfrm>
            <a:off x="9494520" y="2331580"/>
            <a:ext cx="2103120" cy="82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Raggiunge il massimo prima  di PGD/AA — il rumore di BIM si concentra nella fascia di media-frequenza, rimosso a Q più bassa</a:t>
            </a:r>
            <a:endParaRPr lang="it-IT" sz="11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3D1F8A1-7715-183E-7D0C-B3B3E05DCBCF}"/>
              </a:ext>
            </a:extLst>
          </p:cNvPr>
          <p:cNvSpPr/>
          <p:nvPr/>
        </p:nvSpPr>
        <p:spPr>
          <a:xfrm>
            <a:off x="9403080" y="4624103"/>
            <a:ext cx="2286000" cy="1238266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E3E788C-AC15-9E54-1109-AC4AA8800DF5}"/>
              </a:ext>
            </a:extLst>
          </p:cNvPr>
          <p:cNvSpPr/>
          <p:nvPr/>
        </p:nvSpPr>
        <p:spPr>
          <a:xfrm>
            <a:off x="9403080" y="4550647"/>
            <a:ext cx="2286000" cy="734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4FFDF6D-9CA8-4957-E7F6-753CF1AA3640}"/>
              </a:ext>
            </a:extLst>
          </p:cNvPr>
          <p:cNvSpPr/>
          <p:nvPr/>
        </p:nvSpPr>
        <p:spPr>
          <a:xfrm>
            <a:off x="9494520" y="4715542"/>
            <a:ext cx="2103120" cy="335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AutoAttack  @  Q=35</a:t>
            </a:r>
            <a:endParaRPr lang="it-IT" sz="11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2F63300-1733-EA0D-1CE5-A4EE7F57FA3B}"/>
              </a:ext>
            </a:extLst>
          </p:cNvPr>
          <p:cNvSpPr/>
          <p:nvPr/>
        </p:nvSpPr>
        <p:spPr>
          <a:xfrm>
            <a:off x="9494520" y="4971574"/>
            <a:ext cx="2103120" cy="31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41.0%</a:t>
            </a:r>
            <a:endParaRPr lang="it-IT" sz="1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9A9BFA2-9492-5436-BEBC-D53A9109B559}"/>
              </a:ext>
            </a:extLst>
          </p:cNvPr>
          <p:cNvSpPr/>
          <p:nvPr/>
        </p:nvSpPr>
        <p:spPr>
          <a:xfrm>
            <a:off x="9494520" y="5236750"/>
            <a:ext cx="2154555" cy="553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Attacco Ensemble : diversi sotto-attacchi occupano bande diverse, più difficile rimuoverlo completamente</a:t>
            </a:r>
            <a:endParaRPr lang="it-IT" sz="1100" dirty="0"/>
          </a:p>
        </p:txBody>
      </p:sp>
    </p:spTree>
    <p:extLst>
      <p:ext uri="{BB962C8B-B14F-4D97-AF65-F5344CB8AC3E}">
        <p14:creationId xmlns:p14="http://schemas.microsoft.com/office/powerpoint/2010/main" val="4248014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A6BAB7-5D7D-2108-07D1-9AC83DB6A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904"/>
            <a:ext cx="10515600" cy="920750"/>
          </a:xfrm>
        </p:spPr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28442CD-3209-10CA-6761-270CABC0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2375" y="4605740"/>
            <a:ext cx="10907233" cy="1335525"/>
          </a:xfrm>
        </p:spPr>
        <p:txBody>
          <a:bodyPr>
            <a:normAutofit lnSpcReduction="10000"/>
          </a:bodyPr>
          <a:lstStyle/>
          <a:p>
            <a:r>
              <a:rPr lang="it-IT" dirty="0"/>
              <a:t>Il progetto è stato presentato nella programmazione come paper per SEDE 2026 (</a:t>
            </a:r>
            <a:r>
              <a:rPr lang="it-IT" dirty="0" err="1"/>
              <a:t>SEcurity</a:t>
            </a:r>
            <a:r>
              <a:rPr lang="it-IT" dirty="0"/>
              <a:t> and </a:t>
            </a:r>
            <a:r>
              <a:rPr lang="it-IT" dirty="0" err="1"/>
              <a:t>Resilience</a:t>
            </a:r>
            <a:r>
              <a:rPr lang="it-IT" dirty="0"/>
              <a:t> in Digital </a:t>
            </a:r>
            <a:r>
              <a:rPr lang="it-IT" dirty="0" err="1"/>
              <a:t>Environments</a:t>
            </a:r>
            <a:r>
              <a:rPr lang="it-IT" dirty="0"/>
              <a:t>) tenuto a Ravello 11-12 Marzo 2026.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88F2A1-403A-BD42-1F53-888A2E032A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837109" y="6386524"/>
            <a:ext cx="1371600" cy="3651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12</a:t>
            </a:fld>
            <a:endParaRPr lang="it-IT" dirty="0"/>
          </a:p>
        </p:txBody>
      </p:sp>
      <p:pic>
        <p:nvPicPr>
          <p:cNvPr id="6" name="Elemento grafico 5" descr="Tiro a segno con riempimento a tinta unita">
            <a:extLst>
              <a:ext uri="{FF2B5EF4-FFF2-40B4-BE49-F238E27FC236}">
                <a16:creationId xmlns:a16="http://schemas.microsoft.com/office/drawing/2014/main" id="{A1F79FDB-972D-D9E4-0D59-32A5CFCD2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844" y="1844147"/>
            <a:ext cx="711032" cy="711032"/>
          </a:xfrm>
          <a:prstGeom prst="rect">
            <a:avLst/>
          </a:prstGeom>
        </p:spPr>
      </p:pic>
      <p:pic>
        <p:nvPicPr>
          <p:cNvPr id="8" name="Elemento grafico 7" descr="Lente di ingrandimento con riempimento a tinta unita">
            <a:extLst>
              <a:ext uri="{FF2B5EF4-FFF2-40B4-BE49-F238E27FC236}">
                <a16:creationId xmlns:a16="http://schemas.microsoft.com/office/drawing/2014/main" id="{BAA9400F-3FAB-C4F3-BB23-592144A053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397" y="4753944"/>
            <a:ext cx="618337" cy="618337"/>
          </a:xfrm>
          <a:prstGeom prst="rect">
            <a:avLst/>
          </a:prstGeom>
        </p:spPr>
      </p:pic>
      <p:sp>
        <p:nvSpPr>
          <p:cNvPr id="9" name="Segnaposto testo 2">
            <a:extLst>
              <a:ext uri="{FF2B5EF4-FFF2-40B4-BE49-F238E27FC236}">
                <a16:creationId xmlns:a16="http://schemas.microsoft.com/office/drawing/2014/main" id="{ADAA24EB-5085-60DA-83E9-07AFB9A8B6EF}"/>
              </a:ext>
            </a:extLst>
          </p:cNvPr>
          <p:cNvSpPr txBox="1">
            <a:spLocks/>
          </p:cNvSpPr>
          <p:nvPr/>
        </p:nvSpPr>
        <p:spPr>
          <a:xfrm>
            <a:off x="931109" y="1731134"/>
            <a:ext cx="9906000" cy="1065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dirty="0"/>
              <a:t>La compressione JPEG si presta bene come tecnica per il recovery da attacchi PGD, BIM e </a:t>
            </a:r>
            <a:r>
              <a:rPr lang="it-IT" dirty="0" err="1"/>
              <a:t>Autoattack</a:t>
            </a:r>
            <a:r>
              <a:rPr lang="it-IT" dirty="0"/>
              <a:t>.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14" name="Segnaposto testo 2">
            <a:extLst>
              <a:ext uri="{FF2B5EF4-FFF2-40B4-BE49-F238E27FC236}">
                <a16:creationId xmlns:a16="http://schemas.microsoft.com/office/drawing/2014/main" id="{36DFB714-CA52-0F55-75EA-76B66BCF2C78}"/>
              </a:ext>
            </a:extLst>
          </p:cNvPr>
          <p:cNvSpPr txBox="1">
            <a:spLocks/>
          </p:cNvSpPr>
          <p:nvPr/>
        </p:nvSpPr>
        <p:spPr>
          <a:xfrm>
            <a:off x="931109" y="2682482"/>
            <a:ext cx="10515600" cy="1065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dirty="0"/>
              <a:t>Il miglior tasso di recupero si ha nel range di qualità compreso tra 20 e 25.</a:t>
            </a:r>
          </a:p>
          <a:p>
            <a:endParaRPr lang="it-IT" dirty="0"/>
          </a:p>
        </p:txBody>
      </p:sp>
      <p:sp>
        <p:nvSpPr>
          <p:cNvPr id="15" name="Segnaposto testo 2">
            <a:extLst>
              <a:ext uri="{FF2B5EF4-FFF2-40B4-BE49-F238E27FC236}">
                <a16:creationId xmlns:a16="http://schemas.microsoft.com/office/drawing/2014/main" id="{22CF757E-EA19-4AE7-D17F-93140C8BAEDE}"/>
              </a:ext>
            </a:extLst>
          </p:cNvPr>
          <p:cNvSpPr txBox="1">
            <a:spLocks/>
          </p:cNvSpPr>
          <p:nvPr/>
        </p:nvSpPr>
        <p:spPr>
          <a:xfrm>
            <a:off x="931109" y="3700673"/>
            <a:ext cx="10515600" cy="95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dirty="0"/>
              <a:t>Per BIM cresce rapidamente mostrando un rapido picco ma decresce altrettanto rapidamente.</a:t>
            </a:r>
          </a:p>
        </p:txBody>
      </p:sp>
      <p:pic>
        <p:nvPicPr>
          <p:cNvPr id="21" name="Elemento grafico 20" descr="Montagne con riempimento a tinta unita">
            <a:extLst>
              <a:ext uri="{FF2B5EF4-FFF2-40B4-BE49-F238E27FC236}">
                <a16:creationId xmlns:a16="http://schemas.microsoft.com/office/drawing/2014/main" id="{18AC7D7F-8568-C2B5-4531-B4D79A59DE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181" y="3756168"/>
            <a:ext cx="840357" cy="840357"/>
          </a:xfrm>
          <a:prstGeom prst="rect">
            <a:avLst/>
          </a:prstGeom>
        </p:spPr>
      </p:pic>
      <p:pic>
        <p:nvPicPr>
          <p:cNvPr id="23" name="Elemento grafico 22" descr="Bilancia della giustizia con riempimento a tinta unita">
            <a:extLst>
              <a:ext uri="{FF2B5EF4-FFF2-40B4-BE49-F238E27FC236}">
                <a16:creationId xmlns:a16="http://schemas.microsoft.com/office/drawing/2014/main" id="{F41BF9A5-9465-4D55-7ECE-D076C7440B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1509" y="2778713"/>
            <a:ext cx="840356" cy="84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05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f8a7f80ed_0_6"/>
          <p:cNvSpPr txBox="1"/>
          <p:nvPr/>
        </p:nvSpPr>
        <p:spPr>
          <a:xfrm>
            <a:off x="1622762" y="2807065"/>
            <a:ext cx="9251275" cy="1486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 b="0" i="0" u="none" strike="noStrike" baseline="0" dirty="0">
                <a:latin typeface="Helvetica Neue" panose="020B0604020202020204" charset="0"/>
              </a:rPr>
              <a:t>Valutazione della compressione JPEG </a:t>
            </a:r>
            <a:br>
              <a:rPr lang="it-IT" sz="2600" b="0" i="0" u="none" strike="noStrike" baseline="0" dirty="0">
                <a:latin typeface="Helvetica Neue" panose="020B0604020202020204" charset="0"/>
              </a:rPr>
            </a:br>
            <a:r>
              <a:rPr lang="it-IT" sz="2600" b="0" i="0" u="none" strike="noStrike" baseline="0" dirty="0">
                <a:latin typeface="Helvetica Neue" panose="020B0604020202020204" charset="0"/>
              </a:rPr>
              <a:t>come tecnica di mitigazione </a:t>
            </a:r>
            <a:br>
              <a:rPr lang="it-IT" sz="2600" b="0" i="0" u="none" strike="noStrike" baseline="0" dirty="0">
                <a:latin typeface="Helvetica Neue" panose="020B0604020202020204" charset="0"/>
              </a:rPr>
            </a:br>
            <a:r>
              <a:rPr lang="it-IT" sz="2600" b="0" i="0" u="none" strike="noStrike" baseline="0" dirty="0">
                <a:latin typeface="Helvetica Neue" panose="020B0604020202020204" charset="0"/>
              </a:rPr>
              <a:t>degli attacchi avversari </a:t>
            </a:r>
            <a:br>
              <a:rPr lang="it-IT" sz="2600" b="0" i="0" u="none" strike="noStrike" baseline="0" dirty="0">
                <a:latin typeface="Helvetica Neue" panose="020B0604020202020204" charset="0"/>
              </a:rPr>
            </a:br>
            <a:r>
              <a:rPr lang="it-IT" sz="2600" b="0" i="0" u="none" strike="noStrike" baseline="0" dirty="0">
                <a:latin typeface="Helvetica Neue" panose="020B0604020202020204" charset="0"/>
              </a:rPr>
              <a:t>nella classificazione di immagini.</a:t>
            </a:r>
            <a:endParaRPr lang="it-IT" sz="2600" b="1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g33f8a7f80ed_0_6"/>
          <p:cNvSpPr txBox="1"/>
          <p:nvPr/>
        </p:nvSpPr>
        <p:spPr>
          <a:xfrm>
            <a:off x="1572825" y="6048527"/>
            <a:ext cx="8004900" cy="6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E7F00"/>
              </a:buClr>
              <a:buSzPts val="1700"/>
              <a:buFont typeface="Arial"/>
              <a:buNone/>
            </a:pPr>
            <a:r>
              <a:rPr lang="it-IT" sz="1700" b="1" i="0" u="none" strike="noStrike" cap="none" dirty="0">
                <a:solidFill>
                  <a:srgbClr val="EE7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Candidato:</a:t>
            </a:r>
            <a:r>
              <a:rPr lang="it-IT" sz="17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it-IT" sz="17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Raffaella Sabatino 05121 15114</a:t>
            </a:r>
            <a:br>
              <a:rPr lang="it-IT" sz="17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it-IT" sz="1700" b="1" i="0" u="none" strike="noStrike" cap="none" dirty="0">
                <a:solidFill>
                  <a:srgbClr val="EE7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Relatore: </a:t>
            </a:r>
            <a:r>
              <a:rPr lang="it-IT" sz="17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Prof. </a:t>
            </a:r>
            <a:r>
              <a:rPr lang="it-IT" sz="1700" dirty="0">
                <a:latin typeface="Helvetica Neue"/>
                <a:ea typeface="Helvetica Neue"/>
                <a:cs typeface="Helvetica Neue"/>
                <a:sym typeface="Helvetica Neue"/>
              </a:rPr>
              <a:t>Andrea Francesco Abate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g33f8a7f80ed_0_6"/>
          <p:cNvGrpSpPr/>
          <p:nvPr/>
        </p:nvGrpSpPr>
        <p:grpSpPr>
          <a:xfrm>
            <a:off x="1769143" y="369040"/>
            <a:ext cx="9144000" cy="1680047"/>
            <a:chOff x="1616743" y="216640"/>
            <a:chExt cx="9144000" cy="1680047"/>
          </a:xfrm>
        </p:grpSpPr>
        <p:pic>
          <p:nvPicPr>
            <p:cNvPr id="161" name="Google Shape;161;g33f8a7f80ed_0_6" descr="Immagine che contiene emblema, simbolo, vestiti, cresta&#10;&#10;Descrizione generata automaticament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17477" y="216640"/>
              <a:ext cx="1157046" cy="1157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g33f8a7f80ed_0_6"/>
            <p:cNvSpPr txBox="1"/>
            <p:nvPr/>
          </p:nvSpPr>
          <p:spPr>
            <a:xfrm>
              <a:off x="1616743" y="1448187"/>
              <a:ext cx="9144000" cy="44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2400"/>
                <a:buFont typeface="Arial"/>
                <a:buNone/>
              </a:pPr>
              <a:r>
                <a:rPr lang="it-IT" sz="2400" b="0" i="0" u="none" strike="noStrike" cap="none">
                  <a:solidFill>
                    <a:srgbClr val="7F7F7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Università degli Studi di Salerno</a:t>
              </a:r>
              <a:endParaRPr sz="20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63" name="Google Shape;163;g33f8a7f80ed_0_6"/>
          <p:cNvSpPr txBox="1"/>
          <p:nvPr/>
        </p:nvSpPr>
        <p:spPr>
          <a:xfrm>
            <a:off x="1769143" y="2022521"/>
            <a:ext cx="91440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rPr lang="it-IT" sz="2000" b="0" i="0" u="none" strike="noStrike" cap="none" dirty="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Tesi di Laurea Triennale</a:t>
            </a:r>
            <a:endParaRPr sz="1800" b="0" i="0" u="none" strike="noStrike" cap="none" dirty="0">
              <a:solidFill>
                <a:srgbClr val="7F7F7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" name="Google Shape;164;g33f8a7f80ed_0_6"/>
          <p:cNvSpPr txBox="1"/>
          <p:nvPr/>
        </p:nvSpPr>
        <p:spPr>
          <a:xfrm>
            <a:off x="1769150" y="3986079"/>
            <a:ext cx="9144000" cy="9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400" i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Grazie per l’attenzione</a:t>
            </a:r>
            <a:endParaRPr sz="3400" i="1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Personalizzati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D7F00"/>
      </a:accent2>
      <a:accent3>
        <a:srgbClr val="7A6DAC"/>
      </a:accent3>
      <a:accent4>
        <a:srgbClr val="0F9ED5"/>
      </a:accent4>
      <a:accent5>
        <a:srgbClr val="A02B93"/>
      </a:accent5>
      <a:accent6>
        <a:srgbClr val="EE791A"/>
      </a:accent6>
      <a:hlink>
        <a:srgbClr val="5990BE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895</Words>
  <Application>Microsoft Office PowerPoint</Application>
  <PresentationFormat>Widescreen</PresentationFormat>
  <Paragraphs>160</Paragraphs>
  <Slides>13</Slides>
  <Notes>10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Helvetica Neue Light</vt:lpstr>
      <vt:lpstr>Helvetica Neue</vt:lpstr>
      <vt:lpstr>Calibri</vt:lpstr>
      <vt:lpstr>Arial</vt:lpstr>
      <vt:lpstr>Tema di Office</vt:lpstr>
      <vt:lpstr>Valutazione della compressione JPEG  come tecnica di mitigazione  degli attacchi avversari  nella classificazione di immagini.</vt:lpstr>
      <vt:lpstr>Adversarial Attacks</vt:lpstr>
      <vt:lpstr>Gradient Based Attacks</vt:lpstr>
      <vt:lpstr>Gradient Based Attacks</vt:lpstr>
      <vt:lpstr>Compressione JPEG</vt:lpstr>
      <vt:lpstr>Fasi Compressione JPEG</vt:lpstr>
      <vt:lpstr>Setup Sperimentale</vt:lpstr>
      <vt:lpstr>Risultati Ottenuti (EfficientNET-BO)</vt:lpstr>
      <vt:lpstr>EfficientNET-B0 — Curve di Recovery</vt:lpstr>
      <vt:lpstr>Risultati Ottenuti (ResNET-18)</vt:lpstr>
      <vt:lpstr>ResNET-18 — Curve di Recovery</vt:lpstr>
      <vt:lpstr>Conclusioni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Valutazione della compressione JPEG  come tecnica di mitigazione  degli attacchi avversari  nella classificazione di immagini.</dc:title>
  <dc:creator>Lucia CIMMINO</dc:creator>
  <cp:lastModifiedBy>RAFFAELLA SABATINO</cp:lastModifiedBy>
  <cp:revision>86</cp:revision>
  <dcterms:created xsi:type="dcterms:W3CDTF">2024-08-27T11:12:10Z</dcterms:created>
  <dcterms:modified xsi:type="dcterms:W3CDTF">2026-03-23T16:10:15Z</dcterms:modified>
</cp:coreProperties>
</file>